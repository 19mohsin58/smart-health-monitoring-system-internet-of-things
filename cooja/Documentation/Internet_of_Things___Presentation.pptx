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4"/>
  </p:notesMasterIdLst>
  <p:handoutMasterIdLst>
    <p:handoutMasterId r:id="rId15"/>
  </p:handoutMasterIdLst>
  <p:sldIdLst>
    <p:sldId id="722" r:id="rId3"/>
    <p:sldId id="1026" r:id="rId4"/>
    <p:sldId id="1027" r:id="rId5"/>
    <p:sldId id="1028" r:id="rId6"/>
    <p:sldId id="1029" r:id="rId7"/>
    <p:sldId id="1030" r:id="rId8"/>
    <p:sldId id="1031" r:id="rId9"/>
    <p:sldId id="1032" r:id="rId10"/>
    <p:sldId id="1033" r:id="rId11"/>
    <p:sldId id="1034" r:id="rId12"/>
    <p:sldId id="1035" r:id="rId13"/>
  </p:sldIdLst>
  <p:sldSz cx="9144000" cy="6858000" type="screen4x3"/>
  <p:notesSz cx="7099300" cy="10234613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CC"/>
    <a:srgbClr val="006699"/>
    <a:srgbClr val="000066"/>
    <a:srgbClr val="0066FF"/>
    <a:srgbClr val="0066CC"/>
    <a:srgbClr val="E3E3FF"/>
    <a:srgbClr val="9999FF"/>
    <a:srgbClr val="99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8" autoAdjust="0"/>
    <p:restoredTop sz="98757" autoAdjust="0"/>
  </p:normalViewPr>
  <p:slideViewPr>
    <p:cSldViewPr>
      <p:cViewPr varScale="1">
        <p:scale>
          <a:sx n="82" d="100"/>
          <a:sy n="82" d="100"/>
        </p:scale>
        <p:origin x="17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1B76BBF-8223-4799-95C3-859F065E8F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684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0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C11F25B-D58C-4A79-8AD6-38119B174837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706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364B05ED-9CA2-4935-8602-1081F943AF8B}" type="slidenum">
              <a:rPr lang="it-IT" smtClean="0"/>
              <a:pPr defTabSz="989013"/>
              <a:t>1</a:t>
            </a:fld>
            <a:endParaRPr lang="it-IT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73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3850" y="4048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713"/>
            <a:ext cx="7772400" cy="2087562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algn="ctr">
              <a:defRPr>
                <a:latin typeface="Franklin Gothic Demi" pitchFamily="34" charset="0"/>
              </a:defRPr>
            </a:lvl1pPr>
          </a:lstStyle>
          <a:p>
            <a:r>
              <a:rPr lang="it-IT"/>
              <a:t>Energy-efficient Data Collection in Wireless Sensor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3284538"/>
            <a:ext cx="8064500" cy="32400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44450"/>
            <a:ext cx="7344866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-14395"/>
            <a:ext cx="791310" cy="8077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172450" y="0"/>
            <a:ext cx="954087" cy="9540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8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82" y="61285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3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15125" y="44450"/>
            <a:ext cx="2178050" cy="6697663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383337" cy="6697663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olo e testo sopra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lipArt 3"/>
          <p:cNvSpPr>
            <a:spLocks noGrp="1"/>
          </p:cNvSpPr>
          <p:nvPr>
            <p:ph type="clipArt"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50825" y="981075"/>
            <a:ext cx="8642350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0825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250825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 userDrawn="1"/>
        </p:nvSpPr>
        <p:spPr bwMode="auto">
          <a:xfrm>
            <a:off x="323850" y="10525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39750" y="4292600"/>
            <a:ext cx="8064500" cy="1860550"/>
          </a:xfrm>
          <a:prstGeom prst="roundRect">
            <a:avLst>
              <a:gd name="adj" fmla="val 6986"/>
            </a:avLst>
          </a:prstGeom>
          <a:solidFill>
            <a:schemeClr val="bg1">
              <a:alpha val="7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135937" cy="216058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24363"/>
            <a:ext cx="7127875" cy="1655762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800">
                <a:latin typeface="Franklin Gothic Medium Cond" pitchFamily="34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3119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3119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Freeform 27"/>
          <p:cNvSpPr>
            <a:spLocks/>
          </p:cNvSpPr>
          <p:nvPr userDrawn="1"/>
        </p:nvSpPr>
        <p:spPr bwMode="auto">
          <a:xfrm>
            <a:off x="-36513" y="-26988"/>
            <a:ext cx="8280401" cy="793751"/>
          </a:xfrm>
          <a:custGeom>
            <a:avLst/>
            <a:gdLst/>
            <a:ahLst/>
            <a:cxnLst>
              <a:cxn ang="0">
                <a:pos x="4990" y="499"/>
              </a:cxn>
              <a:cxn ang="0">
                <a:pos x="0" y="499"/>
              </a:cxn>
              <a:cxn ang="0">
                <a:pos x="0" y="0"/>
              </a:cxn>
              <a:cxn ang="0">
                <a:pos x="5063" y="5"/>
              </a:cxn>
              <a:cxn ang="0">
                <a:pos x="5219" y="5"/>
              </a:cxn>
              <a:cxn ang="0">
                <a:pos x="4990" y="497"/>
              </a:cxn>
              <a:cxn ang="0">
                <a:pos x="4988" y="497"/>
              </a:cxn>
              <a:cxn ang="0">
                <a:pos x="4990" y="499"/>
              </a:cxn>
            </a:cxnLst>
            <a:rect l="0" t="0" r="r" b="b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4450"/>
            <a:ext cx="79930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Fare clic per modificare lo stile del titolo</a:t>
            </a:r>
          </a:p>
        </p:txBody>
      </p:sp>
      <p:grpSp>
        <p:nvGrpSpPr>
          <p:cNvPr id="24581" name="Group 33"/>
          <p:cNvGrpSpPr>
            <a:grpSpLocks/>
          </p:cNvGrpSpPr>
          <p:nvPr userDrawn="1"/>
        </p:nvGrpSpPr>
        <p:grpSpPr bwMode="auto">
          <a:xfrm>
            <a:off x="8243888" y="0"/>
            <a:ext cx="762000" cy="960438"/>
            <a:chOff x="4656" y="672"/>
            <a:chExt cx="480" cy="605"/>
          </a:xfrm>
        </p:grpSpPr>
        <p:grpSp>
          <p:nvGrpSpPr>
            <p:cNvPr id="24583" name="Group 34"/>
            <p:cNvGrpSpPr>
              <a:grpSpLocks/>
            </p:cNvGrpSpPr>
            <p:nvPr/>
          </p:nvGrpSpPr>
          <p:grpSpPr bwMode="auto">
            <a:xfrm>
              <a:off x="4656" y="672"/>
              <a:ext cx="480" cy="576"/>
              <a:chOff x="5280" y="0"/>
              <a:chExt cx="480" cy="576"/>
            </a:xfrm>
          </p:grpSpPr>
          <p:pic>
            <p:nvPicPr>
              <p:cNvPr id="24585" name="Picture 35" descr="images-3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5280" y="0"/>
                <a:ext cx="48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60" name="Rectangle 36"/>
              <p:cNvSpPr>
                <a:spLocks noChangeArrowheads="1"/>
              </p:cNvSpPr>
              <p:nvPr/>
            </p:nvSpPr>
            <p:spPr bwMode="auto">
              <a:xfrm>
                <a:off x="5280" y="48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it-IT"/>
              </a:p>
            </p:txBody>
          </p:sp>
        </p:grp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4656" y="1104"/>
              <a:ext cx="4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300" b="1">
                  <a:solidFill>
                    <a:srgbClr val="003366"/>
                  </a:solidFill>
                  <a:latin typeface="Courier New" pitchFamily="49" charset="0"/>
                </a:rPr>
                <a:t> </a:t>
              </a:r>
              <a:r>
                <a:rPr lang="en-US" sz="1200" b="1">
                  <a:solidFill>
                    <a:srgbClr val="000080"/>
                  </a:solidFill>
                  <a:latin typeface="Courier New" pitchFamily="49" charset="0"/>
                </a:rPr>
                <a:t>PerLab</a:t>
              </a:r>
            </a:p>
          </p:txBody>
        </p:sp>
      </p:grpSp>
      <p:sp>
        <p:nvSpPr>
          <p:cNvPr id="10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5" r:id="rId1"/>
    <p:sldLayoutId id="2147484756" r:id="rId2"/>
    <p:sldLayoutId id="2147484731" r:id="rId3"/>
    <p:sldLayoutId id="2147484757" r:id="rId4"/>
    <p:sldLayoutId id="2147484732" r:id="rId5"/>
    <p:sldLayoutId id="2147484758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  <p:sldLayoutId id="2147484744" r:id="rId1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200">
          <a:solidFill>
            <a:schemeClr val="tx1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Sommario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95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  <p:sldLayoutId id="2147484753" r:id="rId10"/>
    <p:sldLayoutId id="21474847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Font typeface="Wingdings" pitchFamily="2" charset="2"/>
        <a:buChar char="§"/>
        <a:defRPr sz="2800">
          <a:solidFill>
            <a:schemeClr val="hlink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400">
          <a:solidFill>
            <a:schemeClr val="hlink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04665"/>
            <a:ext cx="8496944" cy="2592287"/>
          </a:xfrm>
          <a:effectLst>
            <a:outerShdw dist="35921" dir="2700000" algn="ctr" rotWithShape="0">
              <a:schemeClr val="tx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it-IT" sz="4400" dirty="0"/>
              <a:t>Smart Health Monitoring</a:t>
            </a:r>
            <a:endParaRPr lang="it-IT" sz="2400" dirty="0">
              <a:latin typeface="+mj-lt"/>
            </a:endParaRPr>
          </a:p>
        </p:txBody>
      </p:sp>
      <p:pic>
        <p:nvPicPr>
          <p:cNvPr id="31748" name="Picture 34" descr="marchio_unipi_pant541_2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1364" y="5445224"/>
            <a:ext cx="1920875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284984"/>
            <a:ext cx="8064500" cy="1812776"/>
          </a:xfrm>
        </p:spPr>
        <p:txBody>
          <a:bodyPr anchor="b"/>
          <a:lstStyle/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512328" y="3098680"/>
            <a:ext cx="81189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Internet of Things</a:t>
            </a:r>
          </a:p>
          <a:p>
            <a:r>
              <a:rPr lang="en-US" sz="3600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Artificial Intelligence and Data Engineering</a:t>
            </a:r>
            <a:endParaRPr lang="it-IT" dirty="0">
              <a:solidFill>
                <a:srgbClr val="003366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5292" y="4634101"/>
            <a:ext cx="16582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Students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Mohsin Ali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Andrea Zanin</a:t>
            </a:r>
            <a:endParaRPr lang="it-IT" sz="28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4591403"/>
            <a:ext cx="29523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Professors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Giuseppe Anastasi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Francesca Righetti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Carlo Vallati</a:t>
            </a:r>
            <a:endParaRPr lang="it-IT" sz="28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</a:t>
            </a:r>
            <a:r>
              <a:rPr lang="it-IT" dirty="0" err="1"/>
              <a:t>Overview</a:t>
            </a:r>
            <a:r>
              <a:rPr lang="it-IT" dirty="0"/>
              <a:t> and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919531"/>
            <a:ext cx="8642350" cy="5761038"/>
          </a:xfrm>
        </p:spPr>
        <p:txBody>
          <a:bodyPr/>
          <a:lstStyle/>
          <a:p>
            <a:r>
              <a:rPr lang="it-IT" sz="2400" dirty="0"/>
              <a:t>The project </a:t>
            </a:r>
            <a:r>
              <a:rPr lang="it-IT" sz="2400" dirty="0" err="1"/>
              <a:t>introduces</a:t>
            </a:r>
            <a:r>
              <a:rPr lang="it-IT" sz="2400" dirty="0"/>
              <a:t> a clinical IoT framework </a:t>
            </a:r>
            <a:r>
              <a:rPr lang="it-IT" sz="2400" dirty="0" err="1"/>
              <a:t>designed</a:t>
            </a:r>
            <a:r>
              <a:rPr lang="it-IT" sz="2400" dirty="0"/>
              <a:t> for a Smart Health hospital </a:t>
            </a:r>
            <a:r>
              <a:rPr lang="it-IT" sz="2400" dirty="0" err="1"/>
              <a:t>ward</a:t>
            </a:r>
            <a:r>
              <a:rPr lang="it-IT" sz="2400" dirty="0"/>
              <a:t>. </a:t>
            </a:r>
          </a:p>
          <a:p>
            <a:r>
              <a:rPr lang="it-IT" sz="2400" dirty="0" err="1"/>
              <a:t>Patients</a:t>
            </a:r>
            <a:r>
              <a:rPr lang="it-IT" sz="2400" dirty="0"/>
              <a:t> </a:t>
            </a:r>
            <a:r>
              <a:rPr lang="it-IT" sz="2400" dirty="0" err="1"/>
              <a:t>wear</a:t>
            </a:r>
            <a:r>
              <a:rPr lang="it-IT" sz="2400" dirty="0"/>
              <a:t> wireless </a:t>
            </a:r>
            <a:r>
              <a:rPr lang="it-IT" sz="2400" dirty="0" err="1"/>
              <a:t>sensor</a:t>
            </a:r>
            <a:r>
              <a:rPr lang="it-IT" sz="2400" dirty="0"/>
              <a:t> </a:t>
            </a:r>
            <a:r>
              <a:rPr lang="it-IT" sz="2400" dirty="0" err="1"/>
              <a:t>nodes</a:t>
            </a:r>
            <a:r>
              <a:rPr lang="it-IT" sz="2400" dirty="0"/>
              <a:t> to monitor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heart</a:t>
            </a:r>
            <a:r>
              <a:rPr lang="it-IT" sz="2400" dirty="0"/>
              <a:t> rate (BPM) in </a:t>
            </a:r>
            <a:r>
              <a:rPr lang="it-IT" sz="2400" dirty="0" err="1"/>
              <a:t>real</a:t>
            </a:r>
            <a:r>
              <a:rPr lang="it-IT" sz="2400" dirty="0"/>
              <a:t> time. </a:t>
            </a:r>
          </a:p>
          <a:p>
            <a:r>
              <a:rPr lang="it-IT" sz="2400" dirty="0"/>
              <a:t>The system </a:t>
            </a:r>
            <a:r>
              <a:rPr lang="it-IT" sz="2400" dirty="0" err="1"/>
              <a:t>uses</a:t>
            </a:r>
            <a:r>
              <a:rPr lang="it-IT" sz="2400" dirty="0"/>
              <a:t> </a:t>
            </a:r>
            <a:r>
              <a:rPr lang="it-IT" sz="2400" dirty="0" err="1"/>
              <a:t>edge</a:t>
            </a:r>
            <a:r>
              <a:rPr lang="it-IT" sz="2400" dirty="0"/>
              <a:t> intelligence (</a:t>
            </a:r>
            <a:r>
              <a:rPr lang="it-IT" sz="2400" dirty="0" err="1"/>
              <a:t>TinyML</a:t>
            </a:r>
            <a:r>
              <a:rPr lang="it-IT" sz="2400" dirty="0"/>
              <a:t>) to </a:t>
            </a:r>
            <a:r>
              <a:rPr lang="it-IT" sz="2400" dirty="0" err="1"/>
              <a:t>predict</a:t>
            </a:r>
            <a:r>
              <a:rPr lang="it-IT" sz="2400" dirty="0"/>
              <a:t> </a:t>
            </a:r>
            <a:r>
              <a:rPr lang="it-IT" sz="2400" dirty="0" err="1"/>
              <a:t>cardiovascular</a:t>
            </a:r>
            <a:r>
              <a:rPr lang="it-IT" sz="2400" dirty="0"/>
              <a:t> </a:t>
            </a:r>
            <a:r>
              <a:rPr lang="it-IT" sz="2400" dirty="0" err="1"/>
              <a:t>disease</a:t>
            </a:r>
            <a:r>
              <a:rPr lang="it-IT" sz="2400" dirty="0"/>
              <a:t> risk by </a:t>
            </a:r>
            <a:r>
              <a:rPr lang="it-IT" sz="2400" dirty="0" err="1"/>
              <a:t>combining</a:t>
            </a:r>
            <a:r>
              <a:rPr lang="it-IT" sz="2400" dirty="0"/>
              <a:t> live BPM with </a:t>
            </a:r>
            <a:r>
              <a:rPr lang="it-IT" sz="2400" dirty="0" err="1"/>
              <a:t>static</a:t>
            </a:r>
            <a:r>
              <a:rPr lang="it-IT" sz="2400" dirty="0"/>
              <a:t> clinical features of the </a:t>
            </a:r>
            <a:r>
              <a:rPr lang="it-IT" sz="2400" dirty="0" err="1"/>
              <a:t>patient</a:t>
            </a:r>
            <a:r>
              <a:rPr lang="it-IT" sz="2400" dirty="0"/>
              <a:t>. </a:t>
            </a:r>
          </a:p>
          <a:p>
            <a:r>
              <a:rPr lang="it-IT" sz="2400" dirty="0" err="1"/>
              <a:t>If</a:t>
            </a:r>
            <a:r>
              <a:rPr lang="it-IT" sz="2400" dirty="0"/>
              <a:t> an </a:t>
            </a:r>
            <a:r>
              <a:rPr lang="it-IT" sz="2400" dirty="0" err="1"/>
              <a:t>anomaly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detected</a:t>
            </a:r>
            <a:r>
              <a:rPr lang="it-IT" sz="2400" dirty="0"/>
              <a:t>, a </a:t>
            </a:r>
            <a:r>
              <a:rPr lang="it-IT" sz="2400" dirty="0" err="1"/>
              <a:t>local</a:t>
            </a:r>
            <a:r>
              <a:rPr lang="it-IT" sz="2400" dirty="0"/>
              <a:t> </a:t>
            </a:r>
            <a:r>
              <a:rPr lang="it-IT" sz="2400" dirty="0" err="1"/>
              <a:t>alarm</a:t>
            </a:r>
            <a:r>
              <a:rPr lang="it-IT" sz="2400" dirty="0"/>
              <a:t> (red LED) triggers, </a:t>
            </a:r>
            <a:r>
              <a:rPr lang="it-IT" sz="2400" dirty="0" err="1"/>
              <a:t>requiring</a:t>
            </a:r>
            <a:r>
              <a:rPr lang="it-IT" sz="2400" dirty="0"/>
              <a:t> a </a:t>
            </a:r>
            <a:r>
              <a:rPr lang="it-IT" sz="2400" dirty="0" err="1"/>
              <a:t>physical</a:t>
            </a:r>
            <a:r>
              <a:rPr lang="it-IT" sz="2400" dirty="0"/>
              <a:t> and </a:t>
            </a:r>
            <a:r>
              <a:rPr lang="it-IT" sz="2400" dirty="0" err="1"/>
              <a:t>manual</a:t>
            </a:r>
            <a:r>
              <a:rPr lang="it-IT" sz="2400" dirty="0"/>
              <a:t> </a:t>
            </a:r>
            <a:r>
              <a:rPr lang="it-IT" sz="2400" dirty="0" err="1"/>
              <a:t>intervention</a:t>
            </a:r>
            <a:r>
              <a:rPr lang="it-IT" sz="2400" dirty="0"/>
              <a:t> by a nurse to clear </a:t>
            </a:r>
            <a:r>
              <a:rPr lang="it-IT" sz="2400" dirty="0" err="1"/>
              <a:t>it</a:t>
            </a:r>
            <a:r>
              <a:rPr lang="it-IT" sz="2400" dirty="0"/>
              <a:t>, </a:t>
            </a:r>
            <a:r>
              <a:rPr lang="it-IT" sz="2400" dirty="0" err="1"/>
              <a:t>thereby</a:t>
            </a:r>
            <a:r>
              <a:rPr lang="it-IT" sz="2400" dirty="0"/>
              <a:t> </a:t>
            </a:r>
            <a:r>
              <a:rPr lang="it-IT" sz="2400" dirty="0" err="1"/>
              <a:t>ensuring</a:t>
            </a:r>
            <a:r>
              <a:rPr lang="it-IT" sz="2400" dirty="0"/>
              <a:t> </a:t>
            </a:r>
            <a:r>
              <a:rPr lang="it-IT" sz="2400" dirty="0" err="1"/>
              <a:t>medical</a:t>
            </a:r>
            <a:r>
              <a:rPr lang="it-IT" sz="2400" dirty="0"/>
              <a:t> </a:t>
            </a:r>
            <a:r>
              <a:rPr lang="it-IT" sz="2400" dirty="0" err="1"/>
              <a:t>safety</a:t>
            </a:r>
            <a:r>
              <a:rPr lang="it-IT" sz="2400" dirty="0"/>
              <a:t>.</a:t>
            </a:r>
          </a:p>
          <a:p>
            <a:endParaRPr lang="it-IT" sz="2400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2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5-Layer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b="1" dirty="0"/>
              <a:t>Edge </a:t>
            </a:r>
            <a:r>
              <a:rPr lang="it-IT" sz="2400" b="1" dirty="0" err="1"/>
              <a:t>layer</a:t>
            </a:r>
            <a:r>
              <a:rPr lang="it-IT" sz="2400" b="1" dirty="0"/>
              <a:t>:</a:t>
            </a:r>
            <a:r>
              <a:rPr lang="it-IT" sz="2400" dirty="0"/>
              <a:t> nRF52840 </a:t>
            </a:r>
            <a:r>
              <a:rPr lang="it-IT" sz="2400" dirty="0" err="1"/>
              <a:t>nodes</a:t>
            </a:r>
            <a:r>
              <a:rPr lang="it-IT" sz="2400" dirty="0"/>
              <a:t> running </a:t>
            </a:r>
            <a:r>
              <a:rPr lang="it-IT" sz="2400" dirty="0" err="1"/>
              <a:t>Contiki</a:t>
            </a:r>
            <a:r>
              <a:rPr lang="it-IT" sz="2400" dirty="0"/>
              <a:t>-NG for data </a:t>
            </a:r>
            <a:r>
              <a:rPr lang="it-IT" sz="2400" dirty="0" err="1"/>
              <a:t>collection</a:t>
            </a:r>
            <a:r>
              <a:rPr lang="it-IT" sz="2400" dirty="0"/>
              <a:t> and </a:t>
            </a:r>
            <a:r>
              <a:rPr lang="it-IT" sz="2400" dirty="0" err="1"/>
              <a:t>local</a:t>
            </a:r>
            <a:r>
              <a:rPr lang="it-IT" sz="2400" dirty="0"/>
              <a:t> </a:t>
            </a:r>
            <a:r>
              <a:rPr lang="it-IT" sz="2400" dirty="0" err="1"/>
              <a:t>TinyML</a:t>
            </a:r>
            <a:r>
              <a:rPr lang="it-IT" sz="2400" dirty="0"/>
              <a:t> </a:t>
            </a:r>
            <a:r>
              <a:rPr lang="it-IT" sz="2400" dirty="0" err="1"/>
              <a:t>inference</a:t>
            </a:r>
            <a:endParaRPr lang="it-IT" sz="2400" dirty="0"/>
          </a:p>
          <a:p>
            <a:r>
              <a:rPr lang="it-IT" sz="2400" b="1" dirty="0"/>
              <a:t>Wireless mesh </a:t>
            </a:r>
            <a:r>
              <a:rPr lang="it-IT" sz="2400" b="1" dirty="0" err="1"/>
              <a:t>layer</a:t>
            </a:r>
            <a:r>
              <a:rPr lang="it-IT" sz="2400" b="1" dirty="0"/>
              <a:t>:</a:t>
            </a:r>
            <a:r>
              <a:rPr lang="it-IT" sz="2400" dirty="0"/>
              <a:t> IEEE 802.15.4/MAC network </a:t>
            </a:r>
            <a:r>
              <a:rPr lang="it-IT" sz="2400" dirty="0" err="1"/>
              <a:t>operating</a:t>
            </a:r>
            <a:r>
              <a:rPr lang="it-IT" sz="2400" dirty="0"/>
              <a:t> with RPL-Lite </a:t>
            </a:r>
            <a:r>
              <a:rPr lang="it-IT" sz="2400" dirty="0" err="1"/>
              <a:t>routing</a:t>
            </a:r>
            <a:endParaRPr lang="it-IT" sz="2400" dirty="0"/>
          </a:p>
          <a:p>
            <a:r>
              <a:rPr lang="it-IT" sz="2400" b="1" dirty="0"/>
              <a:t>Gateway </a:t>
            </a:r>
            <a:r>
              <a:rPr lang="it-IT" sz="2400" b="1" dirty="0" err="1"/>
              <a:t>layer</a:t>
            </a:r>
            <a:r>
              <a:rPr lang="it-IT" sz="2400" b="1" dirty="0"/>
              <a:t>:</a:t>
            </a:r>
            <a:r>
              <a:rPr lang="it-IT" sz="2400" dirty="0"/>
              <a:t> An nRF52840 Border Router </a:t>
            </a:r>
            <a:r>
              <a:rPr lang="it-IT" sz="2400" dirty="0" err="1"/>
              <a:t>acting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bridge </a:t>
            </a:r>
            <a:r>
              <a:rPr lang="it-IT" sz="2400" dirty="0" err="1"/>
              <a:t>between</a:t>
            </a:r>
            <a:r>
              <a:rPr lang="it-IT" sz="2400" dirty="0"/>
              <a:t> the wireless network and IP via a SLIP tunnel</a:t>
            </a:r>
          </a:p>
          <a:p>
            <a:r>
              <a:rPr lang="it-IT" sz="2400" b="1" dirty="0"/>
              <a:t>Middleware &amp; DB </a:t>
            </a:r>
            <a:r>
              <a:rPr lang="it-IT" sz="2400" b="1" dirty="0" err="1"/>
              <a:t>layer</a:t>
            </a:r>
            <a:r>
              <a:rPr lang="it-IT" sz="2400" b="1" dirty="0"/>
              <a:t>:</a:t>
            </a:r>
            <a:r>
              <a:rPr lang="it-IT" sz="2400" dirty="0"/>
              <a:t> A </a:t>
            </a:r>
            <a:r>
              <a:rPr lang="it-IT" sz="2400" dirty="0" err="1"/>
              <a:t>Mosquitto</a:t>
            </a:r>
            <a:r>
              <a:rPr lang="it-IT" sz="2400" dirty="0"/>
              <a:t> MQTT broker for </a:t>
            </a:r>
            <a:r>
              <a:rPr lang="it-IT" sz="2400" dirty="0" err="1"/>
              <a:t>routing</a:t>
            </a:r>
            <a:r>
              <a:rPr lang="it-IT" sz="2400" dirty="0"/>
              <a:t>, a Python </a:t>
            </a:r>
            <a:r>
              <a:rPr lang="it-IT" sz="2400" dirty="0" err="1"/>
              <a:t>backend</a:t>
            </a:r>
            <a:r>
              <a:rPr lang="it-IT" sz="2400" dirty="0"/>
              <a:t> for </a:t>
            </a:r>
            <a:r>
              <a:rPr lang="it-IT" sz="2400" dirty="0" err="1"/>
              <a:t>logic</a:t>
            </a:r>
            <a:r>
              <a:rPr lang="it-IT" sz="2400" dirty="0"/>
              <a:t> </a:t>
            </a:r>
            <a:r>
              <a:rPr lang="it-IT" sz="2400" dirty="0" err="1"/>
              <a:t>execution</a:t>
            </a:r>
            <a:r>
              <a:rPr lang="it-IT" sz="2400" dirty="0"/>
              <a:t>, and a MySQL database for </a:t>
            </a:r>
            <a:r>
              <a:rPr lang="it-IT" sz="2400" dirty="0" err="1"/>
              <a:t>historical</a:t>
            </a:r>
            <a:r>
              <a:rPr lang="it-IT" sz="2400" dirty="0"/>
              <a:t> storage</a:t>
            </a:r>
          </a:p>
          <a:p>
            <a:r>
              <a:rPr lang="it-IT" sz="2400" b="1" dirty="0"/>
              <a:t>Presentation </a:t>
            </a:r>
            <a:r>
              <a:rPr lang="it-IT" sz="2400" b="1" dirty="0" err="1"/>
              <a:t>layer</a:t>
            </a:r>
            <a:r>
              <a:rPr lang="it-IT" sz="2400" b="1" dirty="0"/>
              <a:t>:</a:t>
            </a:r>
            <a:r>
              <a:rPr lang="it-IT" sz="2400" dirty="0"/>
              <a:t> </a:t>
            </a:r>
            <a:r>
              <a:rPr lang="it-IT" sz="2400" dirty="0" err="1"/>
              <a:t>Grafana</a:t>
            </a:r>
            <a:r>
              <a:rPr lang="it-IT" sz="2400" dirty="0"/>
              <a:t> dashboard server for real-time </a:t>
            </a:r>
            <a:r>
              <a:rPr lang="it-IT" sz="2400" dirty="0" err="1"/>
              <a:t>telemetry</a:t>
            </a:r>
            <a:r>
              <a:rPr lang="it-IT" sz="2400" dirty="0"/>
              <a:t> </a:t>
            </a:r>
            <a:r>
              <a:rPr lang="it-IT" sz="2400" dirty="0" err="1"/>
              <a:t>visualization</a:t>
            </a:r>
            <a:endParaRPr lang="it-IT" sz="2400" dirty="0"/>
          </a:p>
          <a:p>
            <a:endParaRPr lang="it-IT" sz="2400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3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2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Protocols</a:t>
            </a:r>
            <a:r>
              <a:rPr lang="it-IT" dirty="0"/>
              <a:t>: MQTT vs. </a:t>
            </a:r>
            <a:r>
              <a:rPr lang="it-IT" dirty="0" err="1"/>
              <a:t>CoAP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Integrating</a:t>
            </a:r>
            <a:r>
              <a:rPr lang="it-IT" sz="2400" dirty="0"/>
              <a:t> </a:t>
            </a:r>
            <a:r>
              <a:rPr lang="it-IT" sz="2400" dirty="0" err="1"/>
              <a:t>both</a:t>
            </a:r>
            <a:r>
              <a:rPr lang="it-IT" sz="2400" dirty="0"/>
              <a:t> </a:t>
            </a:r>
            <a:r>
              <a:rPr lang="it-IT" sz="2400" dirty="0" err="1"/>
              <a:t>protocols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core design </a:t>
            </a:r>
            <a:r>
              <a:rPr lang="it-IT" sz="2400" dirty="0" err="1"/>
              <a:t>requirement</a:t>
            </a:r>
            <a:r>
              <a:rPr lang="it-IT" sz="2400" dirty="0"/>
              <a:t> of the system</a:t>
            </a:r>
          </a:p>
          <a:p>
            <a:r>
              <a:rPr lang="it-IT" sz="2400" b="1" dirty="0"/>
              <a:t>MQTT (TCP):</a:t>
            </a:r>
            <a:r>
              <a:rPr lang="it-IT" sz="2400" dirty="0"/>
              <a:t> </a:t>
            </a:r>
            <a:r>
              <a:rPr lang="it-IT" sz="2400" dirty="0" err="1"/>
              <a:t>utilizes</a:t>
            </a:r>
            <a:r>
              <a:rPr lang="it-IT" sz="2400" dirty="0"/>
              <a:t> a </a:t>
            </a:r>
            <a:r>
              <a:rPr lang="it-IT" sz="2400" dirty="0" err="1"/>
              <a:t>publish-subscribe</a:t>
            </a:r>
            <a:r>
              <a:rPr lang="it-IT" sz="2400" dirty="0"/>
              <a:t> pattern to </a:t>
            </a:r>
            <a:r>
              <a:rPr lang="it-IT" sz="2400" dirty="0" err="1"/>
              <a:t>ensure</a:t>
            </a:r>
            <a:r>
              <a:rPr lang="it-IT" sz="2400" dirty="0"/>
              <a:t> </a:t>
            </a:r>
            <a:r>
              <a:rPr lang="it-IT" sz="2400" dirty="0" err="1"/>
              <a:t>reliable</a:t>
            </a:r>
            <a:r>
              <a:rPr lang="it-IT" sz="2400" dirty="0"/>
              <a:t>, </a:t>
            </a:r>
            <a:r>
              <a:rPr lang="it-IT" sz="2400" dirty="0" err="1"/>
              <a:t>continuous</a:t>
            </a:r>
            <a:r>
              <a:rPr lang="it-IT" sz="2400" dirty="0"/>
              <a:t> upstream streaming of </a:t>
            </a:r>
            <a:r>
              <a:rPr lang="it-IT" sz="2400" dirty="0" err="1"/>
              <a:t>telemetry</a:t>
            </a:r>
            <a:r>
              <a:rPr lang="it-IT" sz="2400" dirty="0"/>
              <a:t> from </a:t>
            </a:r>
            <a:r>
              <a:rPr lang="it-IT" sz="2400" dirty="0" err="1"/>
              <a:t>nodes</a:t>
            </a:r>
            <a:r>
              <a:rPr lang="it-IT" sz="2400" dirty="0"/>
              <a:t> to the </a:t>
            </a:r>
            <a:r>
              <a:rPr lang="it-IT" sz="2400" dirty="0" err="1"/>
              <a:t>backend</a:t>
            </a:r>
            <a:endParaRPr lang="it-IT" sz="2400" dirty="0"/>
          </a:p>
          <a:p>
            <a:r>
              <a:rPr lang="it-IT" sz="2400" b="1" dirty="0" err="1"/>
              <a:t>CoAP</a:t>
            </a:r>
            <a:r>
              <a:rPr lang="it-IT" sz="2400" b="1" dirty="0"/>
              <a:t> (UDP):</a:t>
            </a:r>
            <a:r>
              <a:rPr lang="it-IT" sz="2400" dirty="0"/>
              <a:t> </a:t>
            </a:r>
            <a:r>
              <a:rPr lang="it-IT" sz="2400" dirty="0" err="1"/>
              <a:t>utilizes</a:t>
            </a:r>
            <a:r>
              <a:rPr lang="it-IT" sz="2400" dirty="0"/>
              <a:t> a </a:t>
            </a:r>
            <a:r>
              <a:rPr lang="it-IT" sz="2400" dirty="0" err="1"/>
              <a:t>request-response</a:t>
            </a:r>
            <a:r>
              <a:rPr lang="it-IT" sz="2400" dirty="0"/>
              <a:t> model to </a:t>
            </a:r>
            <a:r>
              <a:rPr lang="it-IT" sz="2400" dirty="0" err="1"/>
              <a:t>manage</a:t>
            </a:r>
            <a:r>
              <a:rPr lang="it-IT" sz="2400" dirty="0"/>
              <a:t> downstream </a:t>
            </a:r>
            <a:r>
              <a:rPr lang="it-IT" sz="2400" dirty="0" err="1"/>
              <a:t>actuations</a:t>
            </a:r>
            <a:r>
              <a:rPr lang="it-IT" sz="2400" dirty="0"/>
              <a:t> (e.g., LED </a:t>
            </a:r>
            <a:r>
              <a:rPr lang="it-IT" sz="2400" dirty="0" err="1"/>
              <a:t>latching</a:t>
            </a:r>
            <a:r>
              <a:rPr lang="it-IT" sz="2400" dirty="0"/>
              <a:t>)</a:t>
            </a:r>
          </a:p>
          <a:p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eliminates</a:t>
            </a:r>
            <a:r>
              <a:rPr lang="it-IT" sz="2400" dirty="0"/>
              <a:t> the overhead of </a:t>
            </a:r>
            <a:r>
              <a:rPr lang="it-IT" sz="2400" dirty="0" err="1"/>
              <a:t>persistent</a:t>
            </a:r>
            <a:r>
              <a:rPr lang="it-IT" sz="2400" dirty="0"/>
              <a:t> TCP </a:t>
            </a:r>
            <a:r>
              <a:rPr lang="it-IT" sz="2400" dirty="0" err="1"/>
              <a:t>sockets</a:t>
            </a:r>
            <a:r>
              <a:rPr lang="it-IT" sz="2400" dirty="0"/>
              <a:t>, making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highly</a:t>
            </a:r>
            <a:r>
              <a:rPr lang="it-IT" sz="2400" dirty="0"/>
              <a:t> </a:t>
            </a:r>
            <a:r>
              <a:rPr lang="it-IT" sz="2400" dirty="0" err="1"/>
              <a:t>efficient</a:t>
            </a:r>
            <a:r>
              <a:rPr lang="it-IT" sz="2400" dirty="0"/>
              <a:t> and low-</a:t>
            </a:r>
            <a:r>
              <a:rPr lang="it-IT" sz="2400" dirty="0" err="1"/>
              <a:t>latency</a:t>
            </a:r>
            <a:r>
              <a:rPr lang="it-IT" sz="2400" dirty="0"/>
              <a:t> for </a:t>
            </a:r>
            <a:r>
              <a:rPr lang="it-IT" sz="2400" dirty="0" err="1"/>
              <a:t>battery-constrained</a:t>
            </a:r>
            <a:r>
              <a:rPr lang="it-IT" sz="2400" dirty="0"/>
              <a:t> devices</a:t>
            </a:r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4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5AB1-6649-DCFF-1EAD-A96C9B42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0C4E-FDA5-7E98-A61C-06317588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Edge </a:t>
            </a:r>
            <a:r>
              <a:rPr lang="it-IT" dirty="0" err="1"/>
              <a:t>Diagnostics</a:t>
            </a:r>
            <a:r>
              <a:rPr lang="it-IT" dirty="0"/>
              <a:t> and </a:t>
            </a:r>
            <a:r>
              <a:rPr lang="it-IT" dirty="0" err="1"/>
              <a:t>TinyML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9558-68F9-F1C5-691E-D0A61544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The system </a:t>
            </a:r>
            <a:r>
              <a:rPr lang="it-IT" sz="2400" dirty="0" err="1"/>
              <a:t>employs</a:t>
            </a:r>
            <a:r>
              <a:rPr lang="it-IT" sz="2400" dirty="0"/>
              <a:t> a Random Forest </a:t>
            </a:r>
            <a:r>
              <a:rPr lang="it-IT" sz="2400" dirty="0" err="1"/>
              <a:t>classifier</a:t>
            </a:r>
            <a:r>
              <a:rPr lang="it-IT" sz="2400" dirty="0"/>
              <a:t> </a:t>
            </a:r>
            <a:r>
              <a:rPr lang="it-IT" sz="2400" dirty="0" err="1"/>
              <a:t>trained</a:t>
            </a:r>
            <a:r>
              <a:rPr lang="it-IT" sz="2400" dirty="0"/>
              <a:t> on the </a:t>
            </a:r>
            <a:r>
              <a:rPr lang="it-IT" sz="2400" dirty="0" err="1"/>
              <a:t>Kaggle</a:t>
            </a:r>
            <a:r>
              <a:rPr lang="it-IT" sz="2400" dirty="0"/>
              <a:t> "Heart </a:t>
            </a:r>
            <a:r>
              <a:rPr lang="it-IT" sz="2400" dirty="0" err="1"/>
              <a:t>Disease</a:t>
            </a:r>
            <a:r>
              <a:rPr lang="it-IT" sz="2400" dirty="0"/>
              <a:t>" dataset (75% </a:t>
            </a:r>
            <a:r>
              <a:rPr lang="it-IT" sz="2400" dirty="0" err="1"/>
              <a:t>accuracy</a:t>
            </a:r>
            <a:r>
              <a:rPr lang="it-IT" sz="2400" dirty="0"/>
              <a:t>)</a:t>
            </a:r>
          </a:p>
          <a:p>
            <a:r>
              <a:rPr lang="it-IT" sz="2400" dirty="0"/>
              <a:t>The model </a:t>
            </a:r>
            <a:r>
              <a:rPr lang="it-IT" sz="2400" dirty="0" err="1"/>
              <a:t>analyzes</a:t>
            </a:r>
            <a:r>
              <a:rPr lang="it-IT" sz="2400" dirty="0"/>
              <a:t> 6 features: Age, Sex, Resting Blood Pressure, </a:t>
            </a:r>
            <a:r>
              <a:rPr lang="it-IT" sz="2400" dirty="0" err="1"/>
              <a:t>Cholesterol</a:t>
            </a:r>
            <a:r>
              <a:rPr lang="it-IT" sz="2400" dirty="0"/>
              <a:t>, Fasting Blood Sugar, and </a:t>
            </a:r>
            <a:r>
              <a:rPr lang="it-IT" sz="2400" dirty="0" err="1"/>
              <a:t>MaxHR</a:t>
            </a:r>
            <a:r>
              <a:rPr lang="it-IT" sz="2400" dirty="0"/>
              <a:t> (</a:t>
            </a:r>
            <a:r>
              <a:rPr lang="it-IT" sz="2400" dirty="0" err="1"/>
              <a:t>dynamically</a:t>
            </a:r>
            <a:r>
              <a:rPr lang="it-IT" sz="2400" dirty="0"/>
              <a:t> </a:t>
            </a:r>
            <a:r>
              <a:rPr lang="it-IT" sz="2400" dirty="0" err="1"/>
              <a:t>mapped</a:t>
            </a:r>
            <a:r>
              <a:rPr lang="it-IT" sz="2400" dirty="0"/>
              <a:t> to live BPM)</a:t>
            </a:r>
          </a:p>
          <a:p>
            <a:r>
              <a:rPr lang="it-IT" sz="2400" dirty="0"/>
              <a:t>To </a:t>
            </a:r>
            <a:r>
              <a:rPr lang="it-IT" sz="2400" dirty="0" err="1"/>
              <a:t>optimize</a:t>
            </a:r>
            <a:r>
              <a:rPr lang="it-IT" sz="2400" dirty="0"/>
              <a:t> </a:t>
            </a:r>
            <a:r>
              <a:rPr lang="it-IT" sz="2400" dirty="0" err="1"/>
              <a:t>execution</a:t>
            </a:r>
            <a:r>
              <a:rPr lang="it-IT" sz="2400" dirty="0"/>
              <a:t> on nRF52840 </a:t>
            </a:r>
            <a:r>
              <a:rPr lang="it-IT" sz="2400" dirty="0" err="1"/>
              <a:t>nodes</a:t>
            </a:r>
            <a:r>
              <a:rPr lang="it-IT" sz="2400" dirty="0"/>
              <a:t>, the </a:t>
            </a:r>
            <a:r>
              <a:rPr lang="it-IT" sz="2400" dirty="0" err="1"/>
              <a:t>generated</a:t>
            </a:r>
            <a:r>
              <a:rPr lang="it-IT" sz="2400" dirty="0"/>
              <a:t> C code </a:t>
            </a:r>
            <a:r>
              <a:rPr lang="it-IT" sz="2400" dirty="0" err="1"/>
              <a:t>was</a:t>
            </a:r>
            <a:r>
              <a:rPr lang="it-IT" sz="2400" dirty="0"/>
              <a:t> </a:t>
            </a:r>
            <a:r>
              <a:rPr lang="it-IT" sz="2400" dirty="0" err="1"/>
              <a:t>adapted</a:t>
            </a:r>
            <a:r>
              <a:rPr lang="it-IT" sz="2400" dirty="0"/>
              <a:t> by casting </a:t>
            </a:r>
            <a:r>
              <a:rPr lang="it-IT" sz="2400" dirty="0" err="1"/>
              <a:t>variables</a:t>
            </a:r>
            <a:r>
              <a:rPr lang="it-IT" sz="2400" dirty="0"/>
              <a:t> to single-</a:t>
            </a:r>
            <a:r>
              <a:rPr lang="it-IT" sz="2400" dirty="0" err="1"/>
              <a:t>precision</a:t>
            </a:r>
            <a:r>
              <a:rPr lang="it-IT" sz="2400" dirty="0"/>
              <a:t> float</a:t>
            </a:r>
          </a:p>
          <a:p>
            <a:r>
              <a:rPr lang="it-IT" sz="2400" dirty="0" err="1"/>
              <a:t>This</a:t>
            </a:r>
            <a:r>
              <a:rPr lang="it-IT" sz="2400" dirty="0"/>
              <a:t> leverages the hardware </a:t>
            </a:r>
            <a:r>
              <a:rPr lang="it-IT" sz="2400" dirty="0" err="1"/>
              <a:t>floating</a:t>
            </a:r>
            <a:r>
              <a:rPr lang="it-IT" sz="2400" dirty="0"/>
              <a:t>-point </a:t>
            </a:r>
            <a:r>
              <a:rPr lang="it-IT" sz="2400" dirty="0" err="1"/>
              <a:t>unit</a:t>
            </a:r>
            <a:r>
              <a:rPr lang="it-IT" sz="2400" dirty="0"/>
              <a:t> (FPU), </a:t>
            </a:r>
            <a:r>
              <a:rPr lang="it-IT" sz="2400" dirty="0" err="1"/>
              <a:t>reducing</a:t>
            </a:r>
            <a:r>
              <a:rPr lang="it-IT" sz="2400" dirty="0"/>
              <a:t> </a:t>
            </a:r>
            <a:r>
              <a:rPr lang="it-IT" sz="2400" dirty="0" err="1"/>
              <a:t>inference</a:t>
            </a:r>
            <a:r>
              <a:rPr lang="it-IT" sz="2400" dirty="0"/>
              <a:t> time to </a:t>
            </a:r>
            <a:r>
              <a:rPr lang="it-IT" sz="2400" dirty="0" err="1"/>
              <a:t>microseconds</a:t>
            </a:r>
            <a:r>
              <a:rPr lang="it-IT" sz="2400" dirty="0"/>
              <a:t> and </a:t>
            </a:r>
            <a:r>
              <a:rPr lang="it-IT" sz="2400" dirty="0" err="1"/>
              <a:t>ensuring</a:t>
            </a:r>
            <a:r>
              <a:rPr lang="it-IT" sz="2400" dirty="0"/>
              <a:t> RTOS </a:t>
            </a:r>
            <a:r>
              <a:rPr lang="it-IT" sz="2400" dirty="0" err="1"/>
              <a:t>stability</a:t>
            </a:r>
            <a:endParaRPr lang="it-IT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4CDAA9-3BAC-11BB-24D6-6D7632746E8E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5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5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6394B-116A-E182-1445-4122449D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164F-34D0-B1F6-59A0-D65CE3EC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Patient Profiling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A8836-E810-E665-AA29-AF2860F98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To simulate a </a:t>
            </a:r>
            <a:r>
              <a:rPr lang="it-IT" sz="2400" dirty="0" err="1"/>
              <a:t>realistic</a:t>
            </a:r>
            <a:r>
              <a:rPr lang="it-IT" sz="2400" dirty="0"/>
              <a:t> </a:t>
            </a:r>
            <a:r>
              <a:rPr lang="it-IT" sz="2400" dirty="0" err="1"/>
              <a:t>ward</a:t>
            </a:r>
            <a:r>
              <a:rPr lang="it-IT" sz="2400" dirty="0"/>
              <a:t>, </a:t>
            </a:r>
            <a:r>
              <a:rPr lang="it-IT" sz="2400" dirty="0" err="1"/>
              <a:t>nodes</a:t>
            </a:r>
            <a:r>
              <a:rPr lang="it-IT" sz="2400" dirty="0"/>
              <a:t> </a:t>
            </a:r>
            <a:r>
              <a:rPr lang="it-IT" sz="2400" dirty="0" err="1"/>
              <a:t>dynamically</a:t>
            </a:r>
            <a:r>
              <a:rPr lang="it-IT" sz="2400" dirty="0"/>
              <a:t> load </a:t>
            </a:r>
            <a:r>
              <a:rPr lang="it-IT" sz="2400" dirty="0" err="1"/>
              <a:t>specific</a:t>
            </a:r>
            <a:r>
              <a:rPr lang="it-IT" sz="2400" dirty="0"/>
              <a:t> clinical </a:t>
            </a:r>
            <a:r>
              <a:rPr lang="it-IT" sz="2400" dirty="0" err="1"/>
              <a:t>profiles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boot </a:t>
            </a:r>
            <a:r>
              <a:rPr lang="it-IT" sz="2400" dirty="0" err="1"/>
              <a:t>based</a:t>
            </a:r>
            <a:r>
              <a:rPr lang="it-IT" sz="2400" dirty="0"/>
              <a:t> on </a:t>
            </a:r>
            <a:r>
              <a:rPr lang="it-IT" sz="2400" dirty="0" err="1"/>
              <a:t>their</a:t>
            </a:r>
            <a:r>
              <a:rPr lang="it-IT" sz="2400" dirty="0"/>
              <a:t> MAC </a:t>
            </a:r>
            <a:r>
              <a:rPr lang="it-IT" sz="2400" dirty="0" err="1"/>
              <a:t>address</a:t>
            </a:r>
            <a:r>
              <a:rPr lang="it-IT" sz="2400" dirty="0"/>
              <a:t> </a:t>
            </a:r>
            <a:r>
              <a:rPr lang="it-IT" sz="2400" dirty="0" err="1"/>
              <a:t>suffix</a:t>
            </a:r>
            <a:endParaRPr lang="it-IT" sz="2400" dirty="0"/>
          </a:p>
          <a:p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validates</a:t>
            </a:r>
            <a:r>
              <a:rPr lang="it-IT" sz="2400" dirty="0"/>
              <a:t> the </a:t>
            </a:r>
            <a:r>
              <a:rPr lang="it-IT" sz="2400" dirty="0" err="1"/>
              <a:t>edge</a:t>
            </a:r>
            <a:r>
              <a:rPr lang="it-IT" sz="2400" dirty="0"/>
              <a:t> intelligence </a:t>
            </a:r>
            <a:r>
              <a:rPr lang="it-IT" sz="2400" dirty="0" err="1"/>
              <a:t>paradigm</a:t>
            </a:r>
            <a:r>
              <a:rPr lang="it-IT" sz="2400" dirty="0"/>
              <a:t>: </a:t>
            </a:r>
            <a:r>
              <a:rPr lang="it-IT" sz="2400" dirty="0" err="1"/>
              <a:t>identical</a:t>
            </a:r>
            <a:r>
              <a:rPr lang="it-IT" sz="2400" dirty="0"/>
              <a:t> </a:t>
            </a:r>
            <a:r>
              <a:rPr lang="it-IT" sz="2400" dirty="0" err="1"/>
              <a:t>heart</a:t>
            </a:r>
            <a:r>
              <a:rPr lang="it-IT" sz="2400" dirty="0"/>
              <a:t> rates yield </a:t>
            </a:r>
            <a:r>
              <a:rPr lang="it-IT" sz="2400" dirty="0" err="1"/>
              <a:t>completely</a:t>
            </a:r>
            <a:r>
              <a:rPr lang="it-IT" sz="2400" dirty="0"/>
              <a:t> </a:t>
            </a:r>
            <a:r>
              <a:rPr lang="it-IT" sz="2400" dirty="0" err="1"/>
              <a:t>different</a:t>
            </a:r>
            <a:r>
              <a:rPr lang="it-IT" sz="2400" dirty="0"/>
              <a:t> risk </a:t>
            </a:r>
            <a:r>
              <a:rPr lang="it-IT" sz="2400" dirty="0" err="1"/>
              <a:t>assessments</a:t>
            </a:r>
            <a:r>
              <a:rPr lang="it-IT" sz="2400" dirty="0"/>
              <a:t> </a:t>
            </a:r>
            <a:r>
              <a:rPr lang="it-IT" sz="2400" dirty="0" err="1"/>
              <a:t>depending</a:t>
            </a:r>
            <a:r>
              <a:rPr lang="it-IT" sz="2400" dirty="0"/>
              <a:t> on the </a:t>
            </a:r>
            <a:r>
              <a:rPr lang="it-IT" sz="2400" dirty="0" err="1"/>
              <a:t>patient's</a:t>
            </a:r>
            <a:r>
              <a:rPr lang="it-IT" sz="2400" dirty="0"/>
              <a:t> </a:t>
            </a:r>
            <a:r>
              <a:rPr lang="it-IT" sz="2400" dirty="0" err="1"/>
              <a:t>profile</a:t>
            </a:r>
            <a:r>
              <a:rPr lang="it-IT" sz="2400" dirty="0"/>
              <a:t> (e.g., </a:t>
            </a:r>
            <a:r>
              <a:rPr lang="it-IT" sz="2400" dirty="0" err="1"/>
              <a:t>clinically</a:t>
            </a:r>
            <a:r>
              <a:rPr lang="it-IT" sz="2400" dirty="0"/>
              <a:t> fragile vs. </a:t>
            </a:r>
            <a:r>
              <a:rPr lang="it-IT" sz="2400" dirty="0" err="1"/>
              <a:t>healthy</a:t>
            </a:r>
            <a:r>
              <a:rPr lang="it-IT" sz="2400" dirty="0"/>
              <a:t>)</a:t>
            </a:r>
          </a:p>
          <a:p>
            <a:r>
              <a:rPr lang="it-IT" sz="2400" dirty="0"/>
              <a:t>Model </a:t>
            </a:r>
            <a:r>
              <a:rPr lang="it-IT" sz="2400" dirty="0" err="1"/>
              <a:t>evaluation</a:t>
            </a:r>
            <a:r>
              <a:rPr lang="it-IT" sz="2400" dirty="0"/>
              <a:t> shows a </a:t>
            </a:r>
            <a:r>
              <a:rPr lang="it-IT" sz="2400" dirty="0" err="1"/>
              <a:t>solid</a:t>
            </a:r>
            <a:r>
              <a:rPr lang="it-IT" sz="2400" dirty="0"/>
              <a:t> recall (0.76) for the "</a:t>
            </a:r>
            <a:r>
              <a:rPr lang="it-IT" sz="2400" dirty="0" err="1"/>
              <a:t>Disease</a:t>
            </a:r>
            <a:r>
              <a:rPr lang="it-IT" sz="2400" dirty="0"/>
              <a:t>" class</a:t>
            </a:r>
          </a:p>
          <a:p>
            <a:endParaRPr lang="it-IT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48D94F-1FC1-6796-0085-8C5D0F932AC4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6</a:t>
            </a:fld>
            <a:endParaRPr lang="it-IT" sz="1100" dirty="0">
              <a:latin typeface="Calibri" panose="020F0502020204030204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F6F4EC8-C8B3-86E1-E4FD-0F7F84C88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28" y="3765920"/>
            <a:ext cx="7740377" cy="271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3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91F4-125B-2543-09FA-785DC733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BBEF-F7DC-428A-BBA0-8FC32FED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Firmware and IPv6 </a:t>
            </a:r>
            <a:r>
              <a:rPr lang="it-IT" dirty="0" err="1"/>
              <a:t>Address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FB71-A6BC-D6F7-39CF-310B665BC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The firmware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built</a:t>
            </a:r>
            <a:r>
              <a:rPr lang="it-IT" sz="2400" dirty="0"/>
              <a:t> on </a:t>
            </a:r>
            <a:r>
              <a:rPr lang="it-IT" sz="2400" dirty="0" err="1"/>
              <a:t>Contiki-NG's</a:t>
            </a:r>
            <a:r>
              <a:rPr lang="it-IT" sz="2400" dirty="0"/>
              <a:t> event-</a:t>
            </a:r>
            <a:r>
              <a:rPr lang="it-IT" sz="2400" dirty="0" err="1"/>
              <a:t>driven</a:t>
            </a:r>
            <a:r>
              <a:rPr lang="it-IT" sz="2400" dirty="0"/>
              <a:t> </a:t>
            </a:r>
            <a:r>
              <a:rPr lang="it-IT" sz="2400" dirty="0" err="1"/>
              <a:t>protothread</a:t>
            </a:r>
            <a:r>
              <a:rPr lang="it-IT" sz="2400" dirty="0"/>
              <a:t> model</a:t>
            </a:r>
          </a:p>
          <a:p>
            <a:r>
              <a:rPr lang="it-IT" sz="2400" dirty="0"/>
              <a:t>Client </a:t>
            </a:r>
            <a:r>
              <a:rPr lang="it-IT" sz="2400" dirty="0" err="1"/>
              <a:t>nodes</a:t>
            </a:r>
            <a:r>
              <a:rPr lang="it-IT" sz="2400" dirty="0"/>
              <a:t> </a:t>
            </a:r>
            <a:r>
              <a:rPr lang="it-IT" sz="2400" dirty="0" err="1"/>
              <a:t>manage</a:t>
            </a:r>
            <a:r>
              <a:rPr lang="it-IT" sz="2400" dirty="0"/>
              <a:t> </a:t>
            </a:r>
            <a:r>
              <a:rPr lang="it-IT" sz="2400" dirty="0" err="1"/>
              <a:t>both</a:t>
            </a:r>
            <a:r>
              <a:rPr lang="it-IT" sz="2400" dirty="0"/>
              <a:t> an MQTT client for upstream </a:t>
            </a:r>
            <a:r>
              <a:rPr lang="it-IT" sz="2400" dirty="0" err="1"/>
              <a:t>telemetry</a:t>
            </a:r>
            <a:r>
              <a:rPr lang="it-IT" sz="2400" dirty="0"/>
              <a:t> and a </a:t>
            </a:r>
            <a:r>
              <a:rPr lang="it-IT" sz="2400" dirty="0" err="1"/>
              <a:t>CoAP</a:t>
            </a:r>
            <a:r>
              <a:rPr lang="it-IT" sz="2400" dirty="0"/>
              <a:t> server to </a:t>
            </a:r>
            <a:r>
              <a:rPr lang="it-IT" sz="2400" dirty="0" err="1"/>
              <a:t>receive</a:t>
            </a:r>
            <a:r>
              <a:rPr lang="it-IT" sz="2400" dirty="0"/>
              <a:t> incoming </a:t>
            </a:r>
            <a:r>
              <a:rPr lang="it-IT" sz="2400" dirty="0" err="1"/>
              <a:t>commands</a:t>
            </a:r>
            <a:endParaRPr lang="it-IT" sz="2400" dirty="0"/>
          </a:p>
          <a:p>
            <a:r>
              <a:rPr lang="it-IT" sz="2400" dirty="0"/>
              <a:t>Devices </a:t>
            </a:r>
            <a:r>
              <a:rPr lang="it-IT" sz="2400" dirty="0" err="1"/>
              <a:t>autoconfigure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IPv6 </a:t>
            </a:r>
            <a:r>
              <a:rPr lang="it-IT" sz="2400" dirty="0" err="1"/>
              <a:t>addresses</a:t>
            </a:r>
            <a:r>
              <a:rPr lang="it-IT" sz="2400" dirty="0"/>
              <a:t> </a:t>
            </a:r>
            <a:r>
              <a:rPr lang="it-IT" sz="2400" dirty="0" err="1"/>
              <a:t>dynamically</a:t>
            </a:r>
            <a:r>
              <a:rPr lang="it-IT" sz="2400" dirty="0"/>
              <a:t> via SLAAC</a:t>
            </a:r>
          </a:p>
          <a:p>
            <a:r>
              <a:rPr lang="it-IT" sz="2400" dirty="0"/>
              <a:t>The Python </a:t>
            </a:r>
            <a:r>
              <a:rPr lang="it-IT" sz="2400" dirty="0" err="1"/>
              <a:t>backend</a:t>
            </a:r>
            <a:r>
              <a:rPr lang="it-IT" sz="2400" dirty="0"/>
              <a:t> </a:t>
            </a:r>
            <a:r>
              <a:rPr lang="it-IT" sz="2400" dirty="0" err="1"/>
              <a:t>resolves</a:t>
            </a:r>
            <a:r>
              <a:rPr lang="it-IT" sz="2400" dirty="0"/>
              <a:t> </a:t>
            </a:r>
            <a:r>
              <a:rPr lang="it-IT" sz="2400" dirty="0" err="1"/>
              <a:t>addresses</a:t>
            </a:r>
            <a:r>
              <a:rPr lang="it-IT" sz="2400" dirty="0"/>
              <a:t> by </a:t>
            </a:r>
            <a:r>
              <a:rPr lang="it-IT" sz="2400" dirty="0" err="1"/>
              <a:t>dynamically</a:t>
            </a:r>
            <a:r>
              <a:rPr lang="it-IT" sz="2400" dirty="0"/>
              <a:t> </a:t>
            </a:r>
            <a:r>
              <a:rPr lang="it-IT" sz="2400" dirty="0" err="1"/>
              <a:t>scraping</a:t>
            </a:r>
            <a:r>
              <a:rPr lang="it-IT" sz="2400" dirty="0"/>
              <a:t> the </a:t>
            </a:r>
            <a:r>
              <a:rPr lang="it-IT" sz="2400" dirty="0" err="1"/>
              <a:t>border</a:t>
            </a:r>
            <a:r>
              <a:rPr lang="it-IT" sz="2400" dirty="0"/>
              <a:t> </a:t>
            </a:r>
            <a:r>
              <a:rPr lang="it-IT" sz="2400" dirty="0" err="1"/>
              <a:t>router's</a:t>
            </a:r>
            <a:r>
              <a:rPr lang="it-IT" sz="2400" dirty="0"/>
              <a:t> HTTP </a:t>
            </a:r>
            <a:r>
              <a:rPr lang="it-IT" sz="2400" dirty="0" err="1"/>
              <a:t>routing</a:t>
            </a:r>
            <a:r>
              <a:rPr lang="it-IT" sz="2400" dirty="0"/>
              <a:t> </a:t>
            </a:r>
            <a:r>
              <a:rPr lang="it-IT" sz="2400" dirty="0" err="1"/>
              <a:t>table</a:t>
            </a:r>
            <a:r>
              <a:rPr lang="it-IT" sz="2400" dirty="0"/>
              <a:t> or </a:t>
            </a:r>
            <a:r>
              <a:rPr lang="it-IT" sz="2400" dirty="0" err="1"/>
              <a:t>applying</a:t>
            </a:r>
            <a:r>
              <a:rPr lang="it-IT" sz="2400" dirty="0"/>
              <a:t> a </a:t>
            </a:r>
            <a:r>
              <a:rPr lang="it-IT" sz="2400" dirty="0" err="1"/>
              <a:t>deterministic</a:t>
            </a:r>
            <a:r>
              <a:rPr lang="it-IT" sz="2400" dirty="0"/>
              <a:t> </a:t>
            </a:r>
            <a:r>
              <a:rPr lang="it-IT" sz="2400" dirty="0" err="1"/>
              <a:t>mathematical</a:t>
            </a:r>
            <a:r>
              <a:rPr lang="it-IT" sz="2400" dirty="0"/>
              <a:t> mapping </a:t>
            </a:r>
            <a:r>
              <a:rPr lang="it-IT" sz="2400" dirty="0" err="1"/>
              <a:t>as</a:t>
            </a:r>
            <a:r>
              <a:rPr lang="it-IT" sz="2400" dirty="0"/>
              <a:t> a </a:t>
            </a:r>
            <a:r>
              <a:rPr lang="it-IT" sz="2400" dirty="0" err="1"/>
              <a:t>fallback</a:t>
            </a:r>
            <a:endParaRPr lang="it-IT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9E008E8-9A9C-FC84-8246-DBC811929DB8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7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44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A52C-7024-114C-2831-0817CAFF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EB90-0517-BF54-3682-66E8B0BE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Logical</a:t>
            </a:r>
            <a:r>
              <a:rPr lang="it-IT" sz="3200" dirty="0"/>
              <a:t> Workflow and </a:t>
            </a:r>
            <a:r>
              <a:rPr lang="it-IT" sz="3200" dirty="0" err="1"/>
              <a:t>Closed</a:t>
            </a:r>
            <a:r>
              <a:rPr lang="it-IT" sz="3200" dirty="0"/>
              <a:t>-Loop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3E95C-5F64-ABDB-21E9-6D07EFEC1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b="1" dirty="0"/>
              <a:t>Deployment &amp; boot:</a:t>
            </a:r>
            <a:r>
              <a:rPr lang="it-IT" sz="2400" dirty="0"/>
              <a:t> FPU-</a:t>
            </a:r>
            <a:r>
              <a:rPr lang="it-IT" sz="2400" dirty="0" err="1"/>
              <a:t>optimized</a:t>
            </a:r>
            <a:r>
              <a:rPr lang="it-IT" sz="2400" dirty="0"/>
              <a:t> firmware boots up, loads </a:t>
            </a:r>
            <a:r>
              <a:rPr lang="it-IT" sz="2400" dirty="0" err="1"/>
              <a:t>specific</a:t>
            </a:r>
            <a:r>
              <a:rPr lang="it-IT" sz="2400" dirty="0"/>
              <a:t> </a:t>
            </a:r>
            <a:r>
              <a:rPr lang="it-IT" sz="2400" dirty="0" err="1"/>
              <a:t>patient</a:t>
            </a:r>
            <a:r>
              <a:rPr lang="it-IT" sz="2400" dirty="0"/>
              <a:t> </a:t>
            </a:r>
            <a:r>
              <a:rPr lang="it-IT" sz="2400" dirty="0" err="1"/>
              <a:t>profiles</a:t>
            </a:r>
            <a:r>
              <a:rPr lang="it-IT" sz="2400" dirty="0"/>
              <a:t>, and </a:t>
            </a:r>
            <a:r>
              <a:rPr lang="it-IT" sz="2400" dirty="0" err="1"/>
              <a:t>registers</a:t>
            </a:r>
            <a:r>
              <a:rPr lang="it-IT" sz="2400" dirty="0"/>
              <a:t> on the MQTT broker</a:t>
            </a:r>
          </a:p>
          <a:p>
            <a:r>
              <a:rPr lang="it-IT" sz="2400" b="1" dirty="0"/>
              <a:t>Edge intelligence:</a:t>
            </a:r>
            <a:r>
              <a:rPr lang="it-IT" sz="2400" dirty="0"/>
              <a:t> </a:t>
            </a:r>
            <a:r>
              <a:rPr lang="it-IT" sz="2400" dirty="0" err="1"/>
              <a:t>every</a:t>
            </a:r>
            <a:r>
              <a:rPr lang="it-IT" sz="2400" dirty="0"/>
              <a:t> 5 seconds, the </a:t>
            </a:r>
            <a:r>
              <a:rPr lang="it-IT" sz="2400" dirty="0" err="1"/>
              <a:t>node</a:t>
            </a:r>
            <a:r>
              <a:rPr lang="it-IT" sz="2400" dirty="0"/>
              <a:t> </a:t>
            </a:r>
            <a:r>
              <a:rPr lang="it-IT" sz="2400" dirty="0" err="1"/>
              <a:t>computes</a:t>
            </a:r>
            <a:r>
              <a:rPr lang="it-IT" sz="2400" dirty="0"/>
              <a:t> the </a:t>
            </a:r>
            <a:r>
              <a:rPr lang="it-IT" sz="2400" dirty="0" err="1"/>
              <a:t>heart</a:t>
            </a:r>
            <a:r>
              <a:rPr lang="it-IT" sz="2400" dirty="0"/>
              <a:t> rate, </a:t>
            </a:r>
            <a:r>
              <a:rPr lang="it-IT" sz="2400" dirty="0" err="1"/>
              <a:t>runs</a:t>
            </a:r>
            <a:r>
              <a:rPr lang="it-IT" sz="2400" dirty="0"/>
              <a:t> the </a:t>
            </a:r>
            <a:r>
              <a:rPr lang="it-IT" sz="2400" dirty="0" err="1"/>
              <a:t>local</a:t>
            </a:r>
            <a:r>
              <a:rPr lang="it-IT" sz="2400" dirty="0"/>
              <a:t> Random Forest </a:t>
            </a:r>
            <a:r>
              <a:rPr lang="it-IT" sz="2400" dirty="0" err="1"/>
              <a:t>inference</a:t>
            </a:r>
            <a:r>
              <a:rPr lang="it-IT" sz="2400" dirty="0"/>
              <a:t>, and </a:t>
            </a:r>
            <a:r>
              <a:rPr lang="it-IT" sz="2400" dirty="0" err="1"/>
              <a:t>transmits</a:t>
            </a:r>
            <a:r>
              <a:rPr lang="it-IT" sz="2400" dirty="0"/>
              <a:t> the data</a:t>
            </a:r>
          </a:p>
          <a:p>
            <a:r>
              <a:rPr lang="it-IT" sz="2400" b="1" dirty="0" err="1"/>
              <a:t>Automated</a:t>
            </a:r>
            <a:r>
              <a:rPr lang="it-IT" sz="2400" b="1" dirty="0"/>
              <a:t> </a:t>
            </a:r>
            <a:r>
              <a:rPr lang="it-IT" sz="2400" b="1" dirty="0" err="1"/>
              <a:t>actuation</a:t>
            </a:r>
            <a:r>
              <a:rPr lang="it-IT" sz="2400" b="1" dirty="0"/>
              <a:t>:</a:t>
            </a:r>
            <a:r>
              <a:rPr lang="it-IT" sz="2400" dirty="0"/>
              <a:t> </a:t>
            </a:r>
            <a:r>
              <a:rPr lang="it-IT" sz="2400" dirty="0" err="1"/>
              <a:t>if</a:t>
            </a:r>
            <a:r>
              <a:rPr lang="it-IT" sz="2400" dirty="0"/>
              <a:t> an </a:t>
            </a:r>
            <a:r>
              <a:rPr lang="it-IT" sz="2400" dirty="0" err="1"/>
              <a:t>anomaly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flagged</a:t>
            </a:r>
            <a:r>
              <a:rPr lang="it-IT" sz="2400" dirty="0"/>
              <a:t>, the </a:t>
            </a:r>
            <a:r>
              <a:rPr lang="it-IT" sz="2400" dirty="0" err="1"/>
              <a:t>backend</a:t>
            </a:r>
            <a:r>
              <a:rPr lang="it-IT" sz="2400" dirty="0"/>
              <a:t> </a:t>
            </a:r>
            <a:r>
              <a:rPr lang="it-IT" sz="2400" dirty="0" err="1"/>
              <a:t>asynchronously</a:t>
            </a:r>
            <a:r>
              <a:rPr lang="it-IT" sz="2400" dirty="0"/>
              <a:t> </a:t>
            </a:r>
            <a:r>
              <a:rPr lang="it-IT" sz="2400" dirty="0" err="1"/>
              <a:t>dispatches</a:t>
            </a:r>
            <a:r>
              <a:rPr lang="it-IT" sz="2400" dirty="0"/>
              <a:t> a </a:t>
            </a:r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command</a:t>
            </a:r>
            <a:r>
              <a:rPr lang="it-IT" sz="2400" dirty="0"/>
              <a:t> to latch the </a:t>
            </a:r>
            <a:r>
              <a:rPr lang="it-IT" sz="2400" dirty="0" err="1"/>
              <a:t>node's</a:t>
            </a:r>
            <a:r>
              <a:rPr lang="it-IT" sz="2400" dirty="0"/>
              <a:t> red LED on</a:t>
            </a:r>
          </a:p>
          <a:p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critical</a:t>
            </a:r>
            <a:r>
              <a:rPr lang="it-IT" sz="2400" dirty="0"/>
              <a:t> </a:t>
            </a:r>
            <a:r>
              <a:rPr lang="it-IT" sz="2400" dirty="0" err="1"/>
              <a:t>alarm</a:t>
            </a:r>
            <a:r>
              <a:rPr lang="it-IT" sz="2400" dirty="0"/>
              <a:t> state </a:t>
            </a:r>
            <a:r>
              <a:rPr lang="it-IT" sz="2400" dirty="0" err="1"/>
              <a:t>persists</a:t>
            </a:r>
            <a:r>
              <a:rPr lang="it-IT" sz="2400" dirty="0"/>
              <a:t> </a:t>
            </a:r>
            <a:r>
              <a:rPr lang="it-IT" sz="2400" dirty="0" err="1"/>
              <a:t>indefinitely</a:t>
            </a:r>
            <a:r>
              <a:rPr lang="it-IT" sz="2400" dirty="0"/>
              <a:t> </a:t>
            </a:r>
            <a:r>
              <a:rPr lang="it-IT" sz="2400" dirty="0" err="1"/>
              <a:t>until</a:t>
            </a:r>
            <a:r>
              <a:rPr lang="it-IT" sz="2400" dirty="0"/>
              <a:t> </a:t>
            </a:r>
            <a:r>
              <a:rPr lang="it-IT" sz="2400" dirty="0" err="1"/>
              <a:t>medical</a:t>
            </a:r>
            <a:r>
              <a:rPr lang="it-IT" sz="2400" dirty="0"/>
              <a:t> </a:t>
            </a:r>
            <a:r>
              <a:rPr lang="it-IT" sz="2400" dirty="0" err="1"/>
              <a:t>personnel</a:t>
            </a:r>
            <a:r>
              <a:rPr lang="it-IT" sz="2400" dirty="0"/>
              <a:t> </a:t>
            </a:r>
            <a:r>
              <a:rPr lang="it-IT" sz="2400" dirty="0" err="1"/>
              <a:t>manually</a:t>
            </a:r>
            <a:r>
              <a:rPr lang="it-IT" sz="2400" dirty="0"/>
              <a:t> clear </a:t>
            </a:r>
            <a:r>
              <a:rPr lang="it-IT" sz="2400" dirty="0" err="1"/>
              <a:t>it</a:t>
            </a:r>
            <a:r>
              <a:rPr lang="it-IT" sz="2400" dirty="0"/>
              <a:t> via a long 3-second </a:t>
            </a:r>
            <a:r>
              <a:rPr lang="it-IT" sz="2400" dirty="0" err="1"/>
              <a:t>button</a:t>
            </a:r>
            <a:r>
              <a:rPr lang="it-IT" sz="2400" dirty="0"/>
              <a:t> press on the </a:t>
            </a:r>
            <a:r>
              <a:rPr lang="it-IT" sz="2400" dirty="0" err="1"/>
              <a:t>sensor</a:t>
            </a:r>
            <a:endParaRPr lang="it-IT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542371-4F07-AA19-329B-22D1F48F22F1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8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4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1E0B-166C-E273-886E-AEA0955B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D5FC-6F51-79DE-1667-CD267584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Stress Testing and Network Jamming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647B-52F1-B360-037B-9ABB49F28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Under baseline </a:t>
            </a:r>
            <a:r>
              <a:rPr lang="it-IT" sz="2400" dirty="0" err="1"/>
              <a:t>conditions</a:t>
            </a:r>
            <a:r>
              <a:rPr lang="it-IT" sz="2400" dirty="0"/>
              <a:t>, </a:t>
            </a:r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latency</a:t>
            </a:r>
            <a:r>
              <a:rPr lang="it-IT" sz="2400" dirty="0"/>
              <a:t> (RTT) </a:t>
            </a:r>
            <a:r>
              <a:rPr lang="it-IT" sz="2400" dirty="0" err="1"/>
              <a:t>remains</a:t>
            </a:r>
            <a:r>
              <a:rPr lang="it-IT" sz="2400" dirty="0"/>
              <a:t> low (30-120 </a:t>
            </a:r>
            <a:r>
              <a:rPr lang="it-IT" sz="2400" dirty="0" err="1"/>
              <a:t>ms</a:t>
            </a:r>
            <a:r>
              <a:rPr lang="it-IT" sz="2400" dirty="0"/>
              <a:t>) with a 100% MQTT </a:t>
            </a:r>
            <a:r>
              <a:rPr lang="it-IT" sz="2400" dirty="0" err="1"/>
              <a:t>Packet</a:t>
            </a:r>
            <a:r>
              <a:rPr lang="it-IT" sz="2400" dirty="0"/>
              <a:t> Delivery Ratio (PDR)</a:t>
            </a:r>
          </a:p>
          <a:p>
            <a:r>
              <a:rPr lang="it-IT" sz="2400" dirty="0"/>
              <a:t>To </a:t>
            </a:r>
            <a:r>
              <a:rPr lang="it-IT" sz="2400" dirty="0" err="1"/>
              <a:t>evaluate</a:t>
            </a:r>
            <a:r>
              <a:rPr lang="it-IT" sz="2400" dirty="0"/>
              <a:t> </a:t>
            </a:r>
            <a:r>
              <a:rPr lang="it-IT" sz="2400" dirty="0" err="1"/>
              <a:t>resilience</a:t>
            </a:r>
            <a:r>
              <a:rPr lang="it-IT" sz="2400" dirty="0"/>
              <a:t>, a "Spammer </a:t>
            </a:r>
            <a:r>
              <a:rPr lang="it-IT" sz="2400" dirty="0" err="1"/>
              <a:t>Node</a:t>
            </a:r>
            <a:r>
              <a:rPr lang="it-IT" sz="2400" dirty="0"/>
              <a:t>" </a:t>
            </a:r>
            <a:r>
              <a:rPr lang="it-IT" sz="2400" dirty="0" err="1"/>
              <a:t>was</a:t>
            </a:r>
            <a:r>
              <a:rPr lang="it-IT" sz="2400" dirty="0"/>
              <a:t> </a:t>
            </a:r>
            <a:r>
              <a:rPr lang="it-IT" sz="2400" dirty="0" err="1"/>
              <a:t>introduced</a:t>
            </a:r>
            <a:r>
              <a:rPr lang="it-IT" sz="2400" dirty="0"/>
              <a:t> to flood the network with 500 UDP </a:t>
            </a:r>
            <a:r>
              <a:rPr lang="it-IT" sz="2400" dirty="0" err="1"/>
              <a:t>packets</a:t>
            </a:r>
            <a:r>
              <a:rPr lang="it-IT" sz="2400" dirty="0"/>
              <a:t> per second on Channel 26</a:t>
            </a:r>
          </a:p>
          <a:p>
            <a:r>
              <a:rPr lang="it-IT" sz="2400" dirty="0" err="1"/>
              <a:t>This</a:t>
            </a:r>
            <a:r>
              <a:rPr lang="it-IT" sz="2400" dirty="0"/>
              <a:t> aggressive flood </a:t>
            </a:r>
            <a:r>
              <a:rPr lang="it-IT" sz="2400" dirty="0" err="1"/>
              <a:t>causes</a:t>
            </a:r>
            <a:r>
              <a:rPr lang="it-IT" sz="2400" dirty="0"/>
              <a:t> CSMA/CA MAC-</a:t>
            </a:r>
            <a:r>
              <a:rPr lang="it-IT" sz="2400" dirty="0" err="1"/>
              <a:t>layer</a:t>
            </a:r>
            <a:r>
              <a:rPr lang="it-IT" sz="2400" dirty="0"/>
              <a:t> </a:t>
            </a:r>
            <a:r>
              <a:rPr lang="it-IT" sz="2400" dirty="0" err="1"/>
              <a:t>collisions</a:t>
            </a:r>
            <a:r>
              <a:rPr lang="it-IT" sz="2400" dirty="0"/>
              <a:t>, </a:t>
            </a:r>
            <a:r>
              <a:rPr lang="it-IT" sz="2400" dirty="0" err="1"/>
              <a:t>drastically</a:t>
            </a:r>
            <a:r>
              <a:rPr lang="it-IT" sz="2400" dirty="0"/>
              <a:t> </a:t>
            </a:r>
            <a:r>
              <a:rPr lang="it-IT" sz="2400" dirty="0" err="1"/>
              <a:t>spiking</a:t>
            </a:r>
            <a:r>
              <a:rPr lang="it-IT" sz="2400" dirty="0"/>
              <a:t> </a:t>
            </a:r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response</a:t>
            </a:r>
            <a:r>
              <a:rPr lang="it-IT" sz="2400" dirty="0"/>
              <a:t> times to 400-600 </a:t>
            </a:r>
            <a:r>
              <a:rPr lang="it-IT" sz="2400" dirty="0" err="1"/>
              <a:t>ms</a:t>
            </a:r>
            <a:r>
              <a:rPr lang="it-IT" sz="2400" dirty="0"/>
              <a:t>, with </a:t>
            </a:r>
            <a:r>
              <a:rPr lang="it-IT" sz="2400" dirty="0" err="1"/>
              <a:t>timeout</a:t>
            </a:r>
            <a:r>
              <a:rPr lang="it-IT" sz="2400" dirty="0"/>
              <a:t> </a:t>
            </a:r>
            <a:r>
              <a:rPr lang="it-IT" sz="2400" dirty="0" err="1"/>
              <a:t>peaks</a:t>
            </a:r>
            <a:r>
              <a:rPr lang="it-IT" sz="2400" dirty="0"/>
              <a:t> up to 2000 </a:t>
            </a:r>
            <a:r>
              <a:rPr lang="it-IT" sz="2400" dirty="0" err="1"/>
              <a:t>ms</a:t>
            </a:r>
            <a:endParaRPr lang="it-IT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8CC65B6-080C-D673-D440-DF4865C9AF7B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9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44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9527-5F51-2C2C-98F7-26B2929F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F147-B514-F1E3-D954-B4D3FE5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Adaptive</a:t>
            </a:r>
            <a:r>
              <a:rPr lang="it-IT" dirty="0"/>
              <a:t> </a:t>
            </a:r>
            <a:r>
              <a:rPr lang="it-IT" dirty="0" err="1"/>
              <a:t>Mitigation</a:t>
            </a:r>
            <a:r>
              <a:rPr lang="it-IT" dirty="0"/>
              <a:t>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239F-CE14-D6AD-34F0-90871AB91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b="1" dirty="0"/>
              <a:t>Edge </a:t>
            </a:r>
            <a:r>
              <a:rPr lang="it-IT" sz="2400" b="1" dirty="0" err="1"/>
              <a:t>adaptation</a:t>
            </a:r>
            <a:r>
              <a:rPr lang="it-IT" sz="2400" b="1" dirty="0"/>
              <a:t> (rate </a:t>
            </a:r>
            <a:r>
              <a:rPr lang="it-IT" sz="2400" b="1" dirty="0" err="1"/>
              <a:t>backoff</a:t>
            </a:r>
            <a:r>
              <a:rPr lang="it-IT" sz="2400" b="1" dirty="0"/>
              <a:t>):</a:t>
            </a:r>
            <a:r>
              <a:rPr lang="it-IT" sz="2400" dirty="0"/>
              <a:t> </a:t>
            </a:r>
            <a:r>
              <a:rPr lang="it-IT" sz="2400" dirty="0" err="1"/>
              <a:t>upon</a:t>
            </a:r>
            <a:r>
              <a:rPr lang="it-IT" sz="2400" dirty="0"/>
              <a:t> </a:t>
            </a:r>
            <a:r>
              <a:rPr lang="it-IT" sz="2400" dirty="0" err="1"/>
              <a:t>local</a:t>
            </a:r>
            <a:r>
              <a:rPr lang="it-IT" sz="2400" dirty="0"/>
              <a:t> </a:t>
            </a:r>
            <a:r>
              <a:rPr lang="it-IT" sz="2400" dirty="0" err="1"/>
              <a:t>anomaly</a:t>
            </a:r>
            <a:r>
              <a:rPr lang="it-IT" sz="2400" dirty="0"/>
              <a:t> </a:t>
            </a:r>
            <a:r>
              <a:rPr lang="it-IT" sz="2400" dirty="0" err="1"/>
              <a:t>classification</a:t>
            </a:r>
            <a:r>
              <a:rPr lang="it-IT" sz="2400" dirty="0"/>
              <a:t>, the </a:t>
            </a:r>
            <a:r>
              <a:rPr lang="it-IT" sz="2400" dirty="0" err="1"/>
              <a:t>node</a:t>
            </a:r>
            <a:r>
              <a:rPr lang="it-IT" sz="2400" dirty="0"/>
              <a:t> </a:t>
            </a:r>
            <a:r>
              <a:rPr lang="it-IT" sz="2400" dirty="0" err="1"/>
              <a:t>throttles</a:t>
            </a:r>
            <a:r>
              <a:rPr lang="it-IT" sz="2400" dirty="0"/>
              <a:t> </a:t>
            </a:r>
            <a:r>
              <a:rPr lang="it-IT" sz="2400" dirty="0" err="1"/>
              <a:t>its</a:t>
            </a:r>
            <a:r>
              <a:rPr lang="it-IT" sz="2400" dirty="0"/>
              <a:t> transmission rate (from 5s to 20s) to reduce </a:t>
            </a:r>
            <a:r>
              <a:rPr lang="it-IT" sz="2400" dirty="0" err="1"/>
              <a:t>its</a:t>
            </a:r>
            <a:r>
              <a:rPr lang="it-IT" sz="2400" dirty="0"/>
              <a:t> RF </a:t>
            </a:r>
            <a:r>
              <a:rPr lang="it-IT" sz="2400" dirty="0" err="1"/>
              <a:t>channel</a:t>
            </a:r>
            <a:r>
              <a:rPr lang="it-IT" sz="2400" dirty="0"/>
              <a:t> footprint, </a:t>
            </a:r>
            <a:r>
              <a:rPr lang="it-IT" sz="2400" dirty="0" err="1"/>
              <a:t>albeit</a:t>
            </a:r>
            <a:r>
              <a:rPr lang="it-IT" sz="2400" dirty="0"/>
              <a:t> </a:t>
            </a:r>
            <a:r>
              <a:rPr lang="it-IT" sz="2400" dirty="0" err="1"/>
              <a:t>sacrificing</a:t>
            </a:r>
            <a:r>
              <a:rPr lang="it-IT" sz="2400" dirty="0"/>
              <a:t> </a:t>
            </a:r>
            <a:r>
              <a:rPr lang="it-IT" sz="2400" dirty="0" err="1"/>
              <a:t>temporal</a:t>
            </a:r>
            <a:r>
              <a:rPr lang="it-IT" sz="2400" dirty="0"/>
              <a:t> </a:t>
            </a:r>
            <a:r>
              <a:rPr lang="it-IT" sz="2400" dirty="0" err="1"/>
              <a:t>resolution</a:t>
            </a:r>
            <a:endParaRPr lang="it-IT" sz="2400" dirty="0"/>
          </a:p>
          <a:p>
            <a:r>
              <a:rPr lang="it-IT" sz="2400" b="1" dirty="0"/>
              <a:t>Gateway </a:t>
            </a:r>
            <a:r>
              <a:rPr lang="it-IT" sz="2400" b="1" dirty="0" err="1"/>
              <a:t>adaptation</a:t>
            </a:r>
            <a:r>
              <a:rPr lang="it-IT" sz="2400" b="1" dirty="0"/>
              <a:t> (</a:t>
            </a:r>
            <a:r>
              <a:rPr lang="it-IT" sz="2400" b="1" dirty="0" err="1"/>
              <a:t>deadband</a:t>
            </a:r>
            <a:r>
              <a:rPr lang="it-IT" sz="2400" b="1" dirty="0"/>
              <a:t> filter):</a:t>
            </a:r>
            <a:r>
              <a:rPr lang="it-IT" sz="2400" dirty="0"/>
              <a:t> </a:t>
            </a:r>
            <a:r>
              <a:rPr lang="it-IT" sz="2400" dirty="0" err="1"/>
              <a:t>if</a:t>
            </a:r>
            <a:r>
              <a:rPr lang="it-IT" sz="2400" dirty="0"/>
              <a:t> the </a:t>
            </a:r>
            <a:r>
              <a:rPr lang="it-IT" sz="2400" dirty="0" err="1"/>
              <a:t>backend</a:t>
            </a:r>
            <a:r>
              <a:rPr lang="it-IT" sz="2400" dirty="0"/>
              <a:t> </a:t>
            </a:r>
            <a:r>
              <a:rPr lang="it-IT" sz="2400" dirty="0" err="1"/>
              <a:t>detects</a:t>
            </a:r>
            <a:r>
              <a:rPr lang="it-IT" sz="2400" dirty="0"/>
              <a:t> </a:t>
            </a:r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latency</a:t>
            </a:r>
            <a:r>
              <a:rPr lang="it-IT" sz="2400" dirty="0"/>
              <a:t> </a:t>
            </a:r>
            <a:r>
              <a:rPr lang="it-IT" sz="2400" dirty="0" err="1"/>
              <a:t>exceeding</a:t>
            </a:r>
            <a:r>
              <a:rPr lang="it-IT" sz="2400" dirty="0"/>
              <a:t> 300 </a:t>
            </a:r>
            <a:r>
              <a:rPr lang="it-IT" sz="2400" dirty="0" err="1"/>
              <a:t>ms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sends</a:t>
            </a:r>
            <a:r>
              <a:rPr lang="it-IT" sz="2400" dirty="0"/>
              <a:t> a </a:t>
            </a:r>
            <a:r>
              <a:rPr lang="it-IT" sz="2400" dirty="0" err="1"/>
              <a:t>command</a:t>
            </a:r>
            <a:r>
              <a:rPr lang="it-IT" sz="2400" dirty="0"/>
              <a:t> to </a:t>
            </a:r>
            <a:r>
              <a:rPr lang="it-IT" sz="2400" dirty="0" err="1"/>
              <a:t>all</a:t>
            </a:r>
            <a:r>
              <a:rPr lang="it-IT" sz="2400" dirty="0"/>
              <a:t> </a:t>
            </a:r>
            <a:r>
              <a:rPr lang="it-IT" sz="2400" dirty="0" err="1"/>
              <a:t>nodes</a:t>
            </a:r>
            <a:r>
              <a:rPr lang="it-IT" sz="2400" dirty="0"/>
              <a:t> to </a:t>
            </a:r>
            <a:r>
              <a:rPr lang="it-IT" sz="2400" dirty="0" err="1"/>
              <a:t>suppress</a:t>
            </a:r>
            <a:r>
              <a:rPr lang="it-IT" sz="2400" dirty="0"/>
              <a:t> </a:t>
            </a:r>
            <a:r>
              <a:rPr lang="it-IT" sz="2400" dirty="0" err="1"/>
              <a:t>redundant</a:t>
            </a:r>
            <a:r>
              <a:rPr lang="it-IT" sz="2400" dirty="0"/>
              <a:t> </a:t>
            </a:r>
            <a:r>
              <a:rPr lang="it-IT" sz="2400" dirty="0" err="1"/>
              <a:t>telemetry</a:t>
            </a:r>
            <a:r>
              <a:rPr lang="it-IT" sz="2400" dirty="0"/>
              <a:t> (filtering up to 80% of </a:t>
            </a:r>
            <a:r>
              <a:rPr lang="it-IT" sz="2400" dirty="0" err="1"/>
              <a:t>traffic</a:t>
            </a:r>
            <a:r>
              <a:rPr lang="it-IT" sz="2400" dirty="0"/>
              <a:t>)</a:t>
            </a:r>
          </a:p>
          <a:p>
            <a:r>
              <a:rPr lang="it-IT" sz="2400" dirty="0" err="1"/>
              <a:t>Tests</a:t>
            </a:r>
            <a:r>
              <a:rPr lang="it-IT" sz="2400" dirty="0"/>
              <a:t> prove </a:t>
            </a:r>
            <a:r>
              <a:rPr lang="it-IT" sz="2400" dirty="0" err="1"/>
              <a:t>that</a:t>
            </a:r>
            <a:r>
              <a:rPr lang="it-IT" sz="2400" dirty="0"/>
              <a:t> MQTT PDR </a:t>
            </a:r>
            <a:r>
              <a:rPr lang="it-IT" sz="2400" dirty="0" err="1"/>
              <a:t>remains</a:t>
            </a:r>
            <a:r>
              <a:rPr lang="it-IT" sz="2400" dirty="0"/>
              <a:t> </a:t>
            </a:r>
            <a:r>
              <a:rPr lang="it-IT" sz="2400" dirty="0" err="1"/>
              <a:t>artificially</a:t>
            </a:r>
            <a:r>
              <a:rPr lang="it-IT" sz="2400" dirty="0"/>
              <a:t> </a:t>
            </a:r>
            <a:r>
              <a:rPr lang="it-IT" sz="2400" dirty="0" err="1"/>
              <a:t>stable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100% due to TCP </a:t>
            </a:r>
            <a:r>
              <a:rPr lang="it-IT" sz="2400" dirty="0" err="1"/>
              <a:t>automatic</a:t>
            </a:r>
            <a:r>
              <a:rPr lang="it-IT" sz="2400" dirty="0"/>
              <a:t> </a:t>
            </a:r>
            <a:r>
              <a:rPr lang="it-IT" sz="2400" dirty="0" err="1"/>
              <a:t>retransmissions</a:t>
            </a:r>
            <a:r>
              <a:rPr lang="it-IT" sz="2400" dirty="0"/>
              <a:t>, </a:t>
            </a:r>
            <a:r>
              <a:rPr lang="it-IT" sz="2400" dirty="0" err="1"/>
              <a:t>proving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CoAP</a:t>
            </a:r>
            <a:r>
              <a:rPr lang="it-IT" sz="2400" dirty="0"/>
              <a:t> UDP </a:t>
            </a:r>
            <a:r>
              <a:rPr lang="it-IT" sz="2400" dirty="0" err="1"/>
              <a:t>latency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vastly</a:t>
            </a:r>
            <a:r>
              <a:rPr lang="it-IT" sz="2400" dirty="0"/>
              <a:t> superior </a:t>
            </a:r>
            <a:r>
              <a:rPr lang="it-IT" sz="2400" dirty="0" err="1"/>
              <a:t>metric</a:t>
            </a:r>
            <a:r>
              <a:rPr lang="it-IT" sz="2400" dirty="0"/>
              <a:t> for </a:t>
            </a:r>
            <a:r>
              <a:rPr lang="it-IT" sz="2400" dirty="0" err="1"/>
              <a:t>detecting</a:t>
            </a:r>
            <a:r>
              <a:rPr lang="it-IT" sz="2400" dirty="0"/>
              <a:t> </a:t>
            </a:r>
            <a:r>
              <a:rPr lang="it-IT" sz="2400" dirty="0" err="1"/>
              <a:t>physical</a:t>
            </a:r>
            <a:r>
              <a:rPr lang="it-IT" sz="2400" dirty="0"/>
              <a:t> RF congestion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06ED15E-FEBC-581E-FDBE-1F86F63BB72D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10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09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D8E7-3841-372B-2C33-0D6C0A77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A528-612F-8FC0-01B9-2AA6DCE9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r>
              <a:rPr lang="it-IT" dirty="0"/>
              <a:t>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2B3C-A1C9-D475-1591-228671B61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The project </a:t>
            </a:r>
            <a:r>
              <a:rPr lang="it-IT" sz="2400" dirty="0" err="1"/>
              <a:t>successfully</a:t>
            </a:r>
            <a:r>
              <a:rPr lang="it-IT" sz="2400" dirty="0"/>
              <a:t> </a:t>
            </a:r>
            <a:r>
              <a:rPr lang="it-IT" sz="2400" dirty="0" err="1"/>
              <a:t>demonstrates</a:t>
            </a:r>
            <a:r>
              <a:rPr lang="it-IT" sz="2400" dirty="0"/>
              <a:t> an </a:t>
            </a:r>
            <a:r>
              <a:rPr lang="it-IT" sz="2400" dirty="0" err="1"/>
              <a:t>integrated</a:t>
            </a:r>
            <a:r>
              <a:rPr lang="it-IT" sz="2400" dirty="0"/>
              <a:t> IoT pipeline </a:t>
            </a:r>
            <a:r>
              <a:rPr lang="it-IT" sz="2400" dirty="0" err="1"/>
              <a:t>combining</a:t>
            </a:r>
            <a:r>
              <a:rPr lang="it-IT" sz="2400" dirty="0"/>
              <a:t> </a:t>
            </a:r>
            <a:r>
              <a:rPr lang="it-IT" sz="2400" dirty="0" err="1"/>
              <a:t>constrained</a:t>
            </a:r>
            <a:r>
              <a:rPr lang="it-IT" sz="2400" dirty="0"/>
              <a:t>-device </a:t>
            </a:r>
            <a:r>
              <a:rPr lang="it-IT" sz="2400" dirty="0" err="1"/>
              <a:t>edge</a:t>
            </a:r>
            <a:r>
              <a:rPr lang="it-IT" sz="2400" dirty="0"/>
              <a:t> ML </a:t>
            </a:r>
            <a:r>
              <a:rPr lang="it-IT" sz="2400" dirty="0" err="1"/>
              <a:t>inference</a:t>
            </a:r>
            <a:r>
              <a:rPr lang="it-IT" sz="2400" dirty="0"/>
              <a:t> with cloud-side </a:t>
            </a:r>
            <a:r>
              <a:rPr lang="it-IT" sz="2400" dirty="0" err="1"/>
              <a:t>closed</a:t>
            </a:r>
            <a:r>
              <a:rPr lang="it-IT" sz="2400" dirty="0"/>
              <a:t>-loop network </a:t>
            </a:r>
            <a:r>
              <a:rPr lang="it-IT" sz="2400" dirty="0" err="1"/>
              <a:t>adaptation</a:t>
            </a:r>
            <a:endParaRPr lang="it-IT" sz="2400" dirty="0"/>
          </a:p>
          <a:p>
            <a:r>
              <a:rPr lang="it-IT" sz="2400" dirty="0"/>
              <a:t>The dual MQTT/</a:t>
            </a:r>
            <a:r>
              <a:rPr lang="it-IT" sz="2400" dirty="0" err="1"/>
              <a:t>CoAP</a:t>
            </a:r>
            <a:r>
              <a:rPr lang="it-IT" sz="2400" dirty="0"/>
              <a:t> </a:t>
            </a:r>
            <a:r>
              <a:rPr lang="it-IT" sz="2400" dirty="0" err="1"/>
              <a:t>architecture</a:t>
            </a:r>
            <a:r>
              <a:rPr lang="it-IT" sz="2400" dirty="0"/>
              <a:t> </a:t>
            </a:r>
            <a:r>
              <a:rPr lang="it-IT" sz="2400" dirty="0" err="1"/>
              <a:t>effectively</a:t>
            </a:r>
            <a:r>
              <a:rPr lang="it-IT" sz="2400" dirty="0"/>
              <a:t> balances reliability and low-</a:t>
            </a:r>
            <a:r>
              <a:rPr lang="it-IT" sz="2400" dirty="0" err="1"/>
              <a:t>latency</a:t>
            </a:r>
            <a:r>
              <a:rPr lang="it-IT" sz="2400" dirty="0"/>
              <a:t> control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/>
              <a:t>Future work:</a:t>
            </a:r>
            <a:r>
              <a:rPr lang="it-IT" sz="2400" dirty="0"/>
              <a:t> </a:t>
            </a:r>
            <a:r>
              <a:rPr lang="it-IT" sz="2400" dirty="0" err="1"/>
              <a:t>Scalability</a:t>
            </a:r>
            <a:r>
              <a:rPr lang="it-IT" sz="2400" dirty="0"/>
              <a:t> </a:t>
            </a:r>
            <a:r>
              <a:rPr lang="it-IT" sz="2400" dirty="0" err="1"/>
              <a:t>evaluation</a:t>
            </a:r>
            <a:r>
              <a:rPr lang="it-IT" sz="2400" dirty="0"/>
              <a:t> </a:t>
            </a:r>
            <a:r>
              <a:rPr lang="it-IT" sz="2400" dirty="0" err="1"/>
              <a:t>across</a:t>
            </a:r>
            <a:r>
              <a:rPr lang="it-IT" sz="2400" dirty="0"/>
              <a:t> a </a:t>
            </a:r>
            <a:r>
              <a:rPr lang="it-IT" sz="2400" dirty="0" err="1"/>
              <a:t>larger</a:t>
            </a:r>
            <a:r>
              <a:rPr lang="it-IT" sz="2400" dirty="0"/>
              <a:t> </a:t>
            </a:r>
            <a:r>
              <a:rPr lang="it-IT" sz="2400" dirty="0" err="1"/>
              <a:t>number</a:t>
            </a:r>
            <a:r>
              <a:rPr lang="it-IT" sz="2400" dirty="0"/>
              <a:t> of </a:t>
            </a:r>
            <a:r>
              <a:rPr lang="it-IT" sz="2400" dirty="0" err="1"/>
              <a:t>concurrent</a:t>
            </a:r>
            <a:r>
              <a:rPr lang="it-IT" sz="2400" dirty="0"/>
              <a:t> </a:t>
            </a:r>
            <a:r>
              <a:rPr lang="it-IT" sz="2400" dirty="0" err="1"/>
              <a:t>patient</a:t>
            </a:r>
            <a:r>
              <a:rPr lang="it-IT" sz="2400" dirty="0"/>
              <a:t> </a:t>
            </a:r>
            <a:r>
              <a:rPr lang="it-IT" sz="2400" dirty="0" err="1"/>
              <a:t>nodes</a:t>
            </a:r>
            <a:r>
              <a:rPr lang="it-IT" sz="2400" dirty="0"/>
              <a:t>, Over-the-Air </a:t>
            </a:r>
            <a:r>
              <a:rPr lang="it-IT" sz="2400" dirty="0" err="1"/>
              <a:t>retraining</a:t>
            </a:r>
            <a:r>
              <a:rPr lang="it-IT" sz="2400" dirty="0"/>
              <a:t> for </a:t>
            </a:r>
            <a:r>
              <a:rPr lang="it-IT" sz="2400" dirty="0" err="1"/>
              <a:t>TinyML</a:t>
            </a:r>
            <a:r>
              <a:rPr lang="it-IT" sz="2400" dirty="0"/>
              <a:t> models, and </a:t>
            </a:r>
            <a:r>
              <a:rPr lang="it-IT" sz="2400" dirty="0" err="1"/>
              <a:t>dynamic</a:t>
            </a:r>
            <a:r>
              <a:rPr lang="it-IT" sz="2400" dirty="0"/>
              <a:t> </a:t>
            </a:r>
            <a:r>
              <a:rPr lang="it-IT" sz="2400" dirty="0" err="1"/>
              <a:t>modulation</a:t>
            </a:r>
            <a:r>
              <a:rPr lang="it-IT" sz="2400" dirty="0"/>
              <a:t> of </a:t>
            </a:r>
            <a:r>
              <a:rPr lang="it-IT" sz="2400" dirty="0" err="1"/>
              <a:t>CoAP</a:t>
            </a:r>
            <a:r>
              <a:rPr lang="it-IT" sz="2400" dirty="0"/>
              <a:t> polling frequencies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4CCC-F956-45F7-F9E2-8AA08C293D80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Smart Health Monitoring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11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64806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Out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utline 14">
    <a:dk1>
      <a:srgbClr val="000000"/>
    </a:dk1>
    <a:lt1>
      <a:srgbClr val="FFFFFF"/>
    </a:lt1>
    <a:dk2>
      <a:srgbClr val="000000"/>
    </a:dk2>
    <a:lt2>
      <a:srgbClr val="808080"/>
    </a:lt2>
    <a:accent1>
      <a:srgbClr val="61CB96"/>
    </a:accent1>
    <a:accent2>
      <a:srgbClr val="008080"/>
    </a:accent2>
    <a:accent3>
      <a:srgbClr val="FFFFFF"/>
    </a:accent3>
    <a:accent4>
      <a:srgbClr val="000000"/>
    </a:accent4>
    <a:accent5>
      <a:srgbClr val="B7E2C9"/>
    </a:accent5>
    <a:accent6>
      <a:srgbClr val="007373"/>
    </a:accent6>
    <a:hlink>
      <a:srgbClr val="009999"/>
    </a:hlink>
    <a:folHlink>
      <a:srgbClr val="0066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30668</TotalTime>
  <Words>958</Words>
  <Application>Microsoft Office PowerPoint</Application>
  <PresentationFormat>Presentazione su schermo (4:3)</PresentationFormat>
  <Paragraphs>84</Paragraphs>
  <Slides>11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11</vt:i4>
      </vt:variant>
    </vt:vector>
  </HeadingPairs>
  <TitlesOfParts>
    <vt:vector size="22" baseType="lpstr">
      <vt:lpstr>Arial</vt:lpstr>
      <vt:lpstr>Calibri</vt:lpstr>
      <vt:lpstr>Courier New</vt:lpstr>
      <vt:lpstr>Franklin Gothic Demi</vt:lpstr>
      <vt:lpstr>Franklin Gothic Demi Cond</vt:lpstr>
      <vt:lpstr>Franklin Gothic Heavy</vt:lpstr>
      <vt:lpstr>Franklin Gothic Medium</vt:lpstr>
      <vt:lpstr>Franklin Gothic Medium Cond</vt:lpstr>
      <vt:lpstr>Wingdings</vt:lpstr>
      <vt:lpstr>Struttura predefinita</vt:lpstr>
      <vt:lpstr>Outline</vt:lpstr>
      <vt:lpstr>Smart Health Monitoring</vt:lpstr>
      <vt:lpstr>System Overview and Use Case</vt:lpstr>
      <vt:lpstr>5-Layer System Architecture</vt:lpstr>
      <vt:lpstr>Protocols: MQTT vs. CoAP</vt:lpstr>
      <vt:lpstr>Edge Diagnostics and TinyML</vt:lpstr>
      <vt:lpstr>Patient Profiling and Performance</vt:lpstr>
      <vt:lpstr>Firmware and IPv6 Address</vt:lpstr>
      <vt:lpstr>Logical Workflow and Closed-Loop Control</vt:lpstr>
      <vt:lpstr>Stress Testing and Network Jamming</vt:lpstr>
      <vt:lpstr>Adaptive Mitigation Strategies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e valutazione di un protocollo di power management per reti di sensori</dc:title>
  <dc:creator>Mdf</dc:creator>
  <cp:lastModifiedBy>Andrea Zanin</cp:lastModifiedBy>
  <cp:revision>1209</cp:revision>
  <cp:lastPrinted>2016-05-24T07:18:58Z</cp:lastPrinted>
  <dcterms:created xsi:type="dcterms:W3CDTF">2005-03-30T13:34:00Z</dcterms:created>
  <dcterms:modified xsi:type="dcterms:W3CDTF">2026-07-21T13:59:38Z</dcterms:modified>
</cp:coreProperties>
</file>